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notesSlides/notesSlide3.xml" ContentType="application/vnd.openxmlformats-officedocument.presentationml.notesSlide+xml"/>
  <Override PartName="/ppt/theme/themeOverride5.xml" ContentType="application/vnd.openxmlformats-officedocument.themeOverr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74" r:id="rId5"/>
    <p:sldId id="272" r:id="rId6"/>
    <p:sldId id="262" r:id="rId7"/>
    <p:sldId id="275" r:id="rId8"/>
    <p:sldId id="276" r:id="rId9"/>
    <p:sldId id="271" r:id="rId10"/>
    <p:sldId id="278" r:id="rId11"/>
    <p:sldId id="279" r:id="rId12"/>
    <p:sldId id="280" r:id="rId13"/>
    <p:sldId id="281" r:id="rId14"/>
    <p:sldId id="282" r:id="rId15"/>
    <p:sldId id="283" r:id="rId16"/>
    <p:sldId id="284" r:id="rId17"/>
    <p:sldId id="285" r:id="rId18"/>
    <p:sldId id="288" r:id="rId19"/>
    <p:sldId id="286" r:id="rId20"/>
    <p:sldId id="287" r:id="rId21"/>
    <p:sldId id="289" r:id="rId22"/>
    <p:sldId id="259" r:id="rId23"/>
    <p:sldId id="260" r:id="rId24"/>
    <p:sldId id="261" r:id="rId25"/>
    <p:sldId id="263" r:id="rId26"/>
    <p:sldId id="264" r:id="rId27"/>
    <p:sldId id="265" r:id="rId28"/>
    <p:sldId id="266" r:id="rId29"/>
    <p:sldId id="267" r:id="rId30"/>
    <p:sldId id="268" r:id="rId31"/>
    <p:sldId id="269" r:id="rId32"/>
    <p:sldId id="270"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F0B2A84-C2C1-E140-8A7D-36857A059290}">
          <p14:sldIdLst>
            <p14:sldId id="256"/>
            <p14:sldId id="257"/>
            <p14:sldId id="258"/>
            <p14:sldId id="274"/>
            <p14:sldId id="272"/>
            <p14:sldId id="262"/>
            <p14:sldId id="275"/>
            <p14:sldId id="276"/>
            <p14:sldId id="271"/>
            <p14:sldId id="278"/>
            <p14:sldId id="279"/>
            <p14:sldId id="280"/>
            <p14:sldId id="281"/>
            <p14:sldId id="282"/>
            <p14:sldId id="283"/>
            <p14:sldId id="284"/>
            <p14:sldId id="285"/>
            <p14:sldId id="288"/>
            <p14:sldId id="286"/>
            <p14:sldId id="287"/>
            <p14:sldId id="289"/>
          </p14:sldIdLst>
        </p14:section>
        <p14:section name="Temperature Surveys of CalGEM Specified Wells" id="{F66A8EEF-E0F5-0144-B274-22DCDA22E4BA}">
          <p14:sldIdLst>
            <p14:sldId id="259"/>
            <p14:sldId id="260"/>
            <p14:sldId id="261"/>
            <p14:sldId id="263"/>
            <p14:sldId id="264"/>
            <p14:sldId id="265"/>
            <p14:sldId id="266"/>
            <p14:sldId id="267"/>
            <p14:sldId id="268"/>
            <p14:sldId id="269"/>
            <p14:sldId id="27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D63021-0241-E349-AB9F-5D33A7641509}" v="126" dt="2026-01-27T18:50:46.4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87620"/>
  </p:normalViewPr>
  <p:slideViewPr>
    <p:cSldViewPr snapToGrid="0">
      <p:cViewPr>
        <p:scale>
          <a:sx n="114" d="100"/>
          <a:sy n="114" d="100"/>
        </p:scale>
        <p:origin x="40"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E29576-B8B5-254F-8E20-3CE2A5929439}" type="datetimeFigureOut">
              <a:rPr lang="en-US" smtClean="0"/>
              <a:t>1/26/26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4749B8-7735-504B-B61B-87EE8FF23C59}" type="slidenum">
              <a:rPr lang="en-US" smtClean="0"/>
              <a:t>‹#›</a:t>
            </a:fld>
            <a:endParaRPr lang="en-US"/>
          </a:p>
        </p:txBody>
      </p:sp>
    </p:spTree>
    <p:extLst>
      <p:ext uri="{BB962C8B-B14F-4D97-AF65-F5344CB8AC3E}">
        <p14:creationId xmlns:p14="http://schemas.microsoft.com/office/powerpoint/2010/main" val="4086026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From Cole Heap (12/178/2025): </a:t>
            </a:r>
            <a:br>
              <a:rPr lang="en-US" sz="1200" b="0" i="0" u="none" strike="noStrike" kern="1200" dirty="0">
                <a:solidFill>
                  <a:schemeClr val="tx1"/>
                </a:solidFill>
                <a:effectLst/>
                <a:latin typeface="+mn-lt"/>
                <a:ea typeface="+mn-ea"/>
                <a:cs typeface="+mn-cs"/>
              </a:rPr>
            </a:b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“…[H]e</a:t>
            </a:r>
            <a:r>
              <a:rPr lang="en-US" sz="1200" b="0" i="0" kern="1200" dirty="0">
                <a:solidFill>
                  <a:schemeClr val="tx1"/>
                </a:solidFill>
                <a:effectLst/>
                <a:latin typeface="+mn-lt"/>
                <a:ea typeface="+mn-ea"/>
                <a:cs typeface="+mn-cs"/>
              </a:rPr>
              <a:t>re is that screenshot showing the PCWs in proximity to this project. The cyan with an "X" through them are all wells flagged by Aera as substandard abandonments...the yellow circles are 300ft buffers around the wells </a:t>
            </a:r>
            <a:r>
              <a:rPr lang="en-US" sz="1200" b="0" i="0" kern="1200" dirty="0" err="1">
                <a:solidFill>
                  <a:schemeClr val="tx1"/>
                </a:solidFill>
                <a:effectLst/>
                <a:latin typeface="+mn-lt"/>
                <a:ea typeface="+mn-ea"/>
                <a:cs typeface="+mn-cs"/>
              </a:rPr>
              <a:t>CalGEM</a:t>
            </a:r>
            <a:r>
              <a:rPr lang="en-US" sz="1200" b="0" i="0" kern="1200" dirty="0">
                <a:solidFill>
                  <a:schemeClr val="tx1"/>
                </a:solidFill>
                <a:effectLst/>
                <a:latin typeface="+mn-lt"/>
                <a:ea typeface="+mn-ea"/>
                <a:cs typeface="+mn-cs"/>
              </a:rPr>
              <a:t> named and are </a:t>
            </a:r>
            <a:r>
              <a:rPr lang="en-US" sz="1200" b="0" i="0" u="none" strike="noStrike" kern="1200" dirty="0">
                <a:solidFill>
                  <a:schemeClr val="tx1"/>
                </a:solidFill>
                <a:effectLst/>
                <a:latin typeface="+mn-lt"/>
                <a:ea typeface="+mn-ea"/>
                <a:cs typeface="+mn-cs"/>
              </a:rPr>
              <a:t>temperature</a:t>
            </a:r>
            <a:r>
              <a:rPr lang="en-US" sz="1200" b="0" i="0" kern="1200" dirty="0">
                <a:solidFill>
                  <a:schemeClr val="tx1"/>
                </a:solidFill>
                <a:effectLst/>
                <a:latin typeface="+mn-lt"/>
                <a:ea typeface="+mn-ea"/>
                <a:cs typeface="+mn-cs"/>
              </a:rPr>
              <a:t> observation wells. The Blue </a:t>
            </a:r>
            <a:r>
              <a:rPr lang="en-US" sz="1200" b="0" i="0" u="none" strike="noStrike" kern="1200" dirty="0">
                <a:solidFill>
                  <a:schemeClr val="tx1"/>
                </a:solidFill>
                <a:effectLst/>
                <a:latin typeface="+mn-lt"/>
                <a:ea typeface="+mn-ea"/>
                <a:cs typeface="+mn-cs"/>
              </a:rPr>
              <a:t>circles</a:t>
            </a:r>
            <a:r>
              <a:rPr lang="en-US" sz="1200" b="0" i="0" kern="1200" dirty="0">
                <a:solidFill>
                  <a:schemeClr val="tx1"/>
                </a:solidFill>
                <a:effectLst/>
                <a:latin typeface="+mn-lt"/>
                <a:ea typeface="+mn-ea"/>
                <a:cs typeface="+mn-cs"/>
              </a:rPr>
              <a:t> are the ZEI for the proposed injectors represented by yellow </a:t>
            </a:r>
            <a:r>
              <a:rPr lang="en-US" sz="1200" b="0" i="0" u="none" strike="noStrike" kern="1200" dirty="0">
                <a:solidFill>
                  <a:schemeClr val="tx1"/>
                </a:solidFill>
                <a:effectLst/>
                <a:latin typeface="+mn-lt"/>
                <a:ea typeface="+mn-ea"/>
                <a:cs typeface="+mn-cs"/>
              </a:rPr>
              <a:t>triangles. </a:t>
            </a:r>
            <a:r>
              <a:rPr lang="en-US" sz="1200" b="0" i="0" kern="1200" dirty="0">
                <a:solidFill>
                  <a:schemeClr val="tx1"/>
                </a:solidFill>
                <a:effectLst/>
                <a:latin typeface="+mn-lt"/>
                <a:ea typeface="+mn-ea"/>
                <a:cs typeface="+mn-cs"/>
              </a:rPr>
              <a:t> </a:t>
            </a:r>
            <a:br>
              <a:rPr lang="en-US" sz="1200" b="0" i="0" u="none" strike="noStrike" kern="1200" dirty="0">
                <a:solidFill>
                  <a:schemeClr val="tx1"/>
                </a:solidFill>
                <a:effectLst/>
                <a:latin typeface="+mn-lt"/>
                <a:ea typeface="+mn-ea"/>
                <a:cs typeface="+mn-cs"/>
              </a:rPr>
            </a:b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While this is not directly pertinent to the </a:t>
            </a:r>
            <a:r>
              <a:rPr lang="en-US" sz="1200" b="0" i="0" kern="1200" dirty="0">
                <a:solidFill>
                  <a:schemeClr val="tx1"/>
                </a:solidFill>
                <a:effectLst/>
                <a:latin typeface="+mn-lt"/>
                <a:ea typeface="+mn-ea"/>
                <a:cs typeface="+mn-cs"/>
              </a:rPr>
              <a:t>T23-SP-A</a:t>
            </a:r>
            <a:r>
              <a:rPr lang="en-US" sz="1200" b="0" i="0" u="none" strike="noStrike"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AOR</a:t>
            </a:r>
            <a:r>
              <a:rPr lang="en-US" sz="1200" b="0" i="0" u="none" strike="noStrike" kern="1200" dirty="0">
                <a:solidFill>
                  <a:schemeClr val="tx1"/>
                </a:solidFill>
                <a:effectLst/>
                <a:latin typeface="+mn-lt"/>
                <a:ea typeface="+mn-ea"/>
                <a:cs typeface="+mn-cs"/>
              </a:rPr>
              <a:t>, although </a:t>
            </a:r>
            <a:r>
              <a:rPr lang="en-US" sz="1200" b="0" i="0" u="none" strike="noStrike" kern="1200" dirty="0" err="1">
                <a:solidFill>
                  <a:schemeClr val="tx1"/>
                </a:solidFill>
                <a:effectLst/>
                <a:latin typeface="+mn-lt"/>
                <a:ea typeface="+mn-ea"/>
                <a:cs typeface="+mn-cs"/>
              </a:rPr>
              <a:t>CalGEM</a:t>
            </a:r>
            <a:r>
              <a:rPr lang="en-US" sz="1200" b="0" i="0" u="none" strike="noStrike" kern="1200" dirty="0">
                <a:solidFill>
                  <a:schemeClr val="tx1"/>
                </a:solidFill>
                <a:effectLst/>
                <a:latin typeface="+mn-lt"/>
                <a:ea typeface="+mn-ea"/>
                <a:cs typeface="+mn-cs"/>
              </a:rPr>
              <a:t> seems to be making it so, it would be nice to have some assistance from the RMT to assess the PCWs and whether or not any of those are the source of the </a:t>
            </a:r>
            <a:r>
              <a:rPr lang="en-US" sz="1200" b="0" i="0" kern="1200" dirty="0">
                <a:solidFill>
                  <a:schemeClr val="tx1"/>
                </a:solidFill>
                <a:effectLst/>
                <a:latin typeface="+mn-lt"/>
                <a:ea typeface="+mn-ea"/>
                <a:cs typeface="+mn-cs"/>
              </a:rPr>
              <a:t>shallow</a:t>
            </a:r>
            <a:r>
              <a:rPr lang="en-US" sz="1200" b="0" i="0" u="none" strike="noStrike"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heat</a:t>
            </a:r>
            <a:r>
              <a:rPr lang="en-US" sz="1200" b="0" i="0" u="none" strike="noStrike" kern="1200" dirty="0">
                <a:solidFill>
                  <a:schemeClr val="tx1"/>
                </a:solidFill>
                <a:effectLst/>
                <a:latin typeface="+mn-lt"/>
                <a:ea typeface="+mn-ea"/>
                <a:cs typeface="+mn-cs"/>
              </a:rPr>
              <a:t> shown in two of the </a:t>
            </a:r>
            <a:r>
              <a:rPr lang="en-US" sz="1200" b="0" i="0" u="none" strike="noStrike" kern="1200" dirty="0" err="1">
                <a:solidFill>
                  <a:schemeClr val="tx1"/>
                </a:solidFill>
                <a:effectLst/>
                <a:latin typeface="+mn-lt"/>
                <a:ea typeface="+mn-ea"/>
                <a:cs typeface="+mn-cs"/>
              </a:rPr>
              <a:t>CalGEM</a:t>
            </a:r>
            <a:r>
              <a:rPr lang="en-US" sz="1200" b="0" i="0" u="none" strike="noStrike" kern="1200" dirty="0">
                <a:solidFill>
                  <a:schemeClr val="tx1"/>
                </a:solidFill>
                <a:effectLst/>
                <a:latin typeface="+mn-lt"/>
                <a:ea typeface="+mn-ea"/>
                <a:cs typeface="+mn-cs"/>
              </a:rPr>
              <a:t>-named observation wells.”</a:t>
            </a:r>
            <a:endParaRPr lang="en-US" dirty="0"/>
          </a:p>
        </p:txBody>
      </p:sp>
      <p:sp>
        <p:nvSpPr>
          <p:cNvPr id="4" name="Slide Number Placeholder 3"/>
          <p:cNvSpPr>
            <a:spLocks noGrp="1"/>
          </p:cNvSpPr>
          <p:nvPr>
            <p:ph type="sldNum" sz="quarter" idx="5"/>
          </p:nvPr>
        </p:nvSpPr>
        <p:spPr/>
        <p:txBody>
          <a:bodyPr/>
          <a:lstStyle/>
          <a:p>
            <a:fld id="{2C4749B8-7735-504B-B61B-87EE8FF23C59}" type="slidenum">
              <a:rPr lang="en-US" smtClean="0"/>
              <a:t>3</a:t>
            </a:fld>
            <a:endParaRPr lang="en-US"/>
          </a:p>
        </p:txBody>
      </p:sp>
    </p:spTree>
    <p:extLst>
      <p:ext uri="{BB962C8B-B14F-4D97-AF65-F5344CB8AC3E}">
        <p14:creationId xmlns:p14="http://schemas.microsoft.com/office/powerpoint/2010/main" val="38379895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well had issues with the underreamer breaking off up high in the injection zone, but nothing abnormal or that the driller could not resolve. </a:t>
            </a:r>
          </a:p>
        </p:txBody>
      </p:sp>
      <p:sp>
        <p:nvSpPr>
          <p:cNvPr id="4" name="Slide Number Placeholder 3"/>
          <p:cNvSpPr>
            <a:spLocks noGrp="1"/>
          </p:cNvSpPr>
          <p:nvPr>
            <p:ph type="sldNum" sz="quarter" idx="5"/>
          </p:nvPr>
        </p:nvSpPr>
        <p:spPr/>
        <p:txBody>
          <a:bodyPr/>
          <a:lstStyle/>
          <a:p>
            <a:fld id="{2C4749B8-7735-504B-B61B-87EE8FF23C59}" type="slidenum">
              <a:rPr lang="en-US" smtClean="0"/>
              <a:t>15</a:t>
            </a:fld>
            <a:endParaRPr lang="en-US"/>
          </a:p>
        </p:txBody>
      </p:sp>
    </p:spTree>
    <p:extLst>
      <p:ext uri="{BB962C8B-B14F-4D97-AF65-F5344CB8AC3E}">
        <p14:creationId xmlns:p14="http://schemas.microsoft.com/office/powerpoint/2010/main" val="15921021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B6BA7-27B1-A305-1F8A-A7DF2ECD97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DD427F-9106-D01F-B52F-8F4B7C21BB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5BD967-B826-324A-0D2D-A53ACF729F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B57FBF-1FF3-6F77-737C-DF3F325DF526}"/>
              </a:ext>
            </a:extLst>
          </p:cNvPr>
          <p:cNvSpPr>
            <a:spLocks noGrp="1"/>
          </p:cNvSpPr>
          <p:nvPr>
            <p:ph type="sldNum" sz="quarter" idx="5"/>
          </p:nvPr>
        </p:nvSpPr>
        <p:spPr/>
        <p:txBody>
          <a:bodyPr/>
          <a:lstStyle/>
          <a:p>
            <a:fld id="{2C4749B8-7735-504B-B61B-87EE8FF23C59}" type="slidenum">
              <a:rPr lang="en-US" smtClean="0"/>
              <a:t>20</a:t>
            </a:fld>
            <a:endParaRPr lang="en-US"/>
          </a:p>
        </p:txBody>
      </p:sp>
    </p:spTree>
    <p:extLst>
      <p:ext uri="{BB962C8B-B14F-4D97-AF65-F5344CB8AC3E}">
        <p14:creationId xmlns:p14="http://schemas.microsoft.com/office/powerpoint/2010/main" val="22719089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6118D-9F0C-C119-E637-61B3293E94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CE7BAB6-4B0B-CA71-6714-8C1B9E4FED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17DFC96-1D18-B8AE-3EAE-797007EA77D9}"/>
              </a:ext>
            </a:extLst>
          </p:cNvPr>
          <p:cNvSpPr>
            <a:spLocks noGrp="1"/>
          </p:cNvSpPr>
          <p:nvPr>
            <p:ph type="dt" sz="half" idx="10"/>
          </p:nvPr>
        </p:nvSpPr>
        <p:spPr/>
        <p:txBody>
          <a:bodyPr/>
          <a:lstStyle/>
          <a:p>
            <a:fld id="{4E1029E0-194F-274A-ADAE-4CEC04D9E584}" type="datetimeFigureOut">
              <a:rPr lang="en-US" smtClean="0"/>
              <a:t>1/26/26</a:t>
            </a:fld>
            <a:endParaRPr lang="en-US"/>
          </a:p>
        </p:txBody>
      </p:sp>
      <p:sp>
        <p:nvSpPr>
          <p:cNvPr id="5" name="Footer Placeholder 4">
            <a:extLst>
              <a:ext uri="{FF2B5EF4-FFF2-40B4-BE49-F238E27FC236}">
                <a16:creationId xmlns:a16="http://schemas.microsoft.com/office/drawing/2014/main" id="{97B811E3-99E0-18C9-D063-E401BB0427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ACB1BE-8E06-6408-675E-D9E5E6C72942}"/>
              </a:ext>
            </a:extLst>
          </p:cNvPr>
          <p:cNvSpPr>
            <a:spLocks noGrp="1"/>
          </p:cNvSpPr>
          <p:nvPr>
            <p:ph type="sldNum" sz="quarter" idx="12"/>
          </p:nvPr>
        </p:nvSpPr>
        <p:spPr/>
        <p:txBody>
          <a:bodyPr/>
          <a:lstStyle/>
          <a:p>
            <a:fld id="{4443B866-DF8B-8C48-9364-DC9C9AB03814}" type="slidenum">
              <a:rPr lang="en-US" smtClean="0"/>
              <a:t>‹#›</a:t>
            </a:fld>
            <a:endParaRPr lang="en-US"/>
          </a:p>
        </p:txBody>
      </p:sp>
    </p:spTree>
    <p:extLst>
      <p:ext uri="{BB962C8B-B14F-4D97-AF65-F5344CB8AC3E}">
        <p14:creationId xmlns:p14="http://schemas.microsoft.com/office/powerpoint/2010/main" val="7554205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A77AB-67FB-A60A-FBAD-4925D26628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BAFF02-2A33-B35B-3D28-5BE19F07E8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890B9B-A983-C399-77BD-1919D4EEB65B}"/>
              </a:ext>
            </a:extLst>
          </p:cNvPr>
          <p:cNvSpPr>
            <a:spLocks noGrp="1"/>
          </p:cNvSpPr>
          <p:nvPr>
            <p:ph type="dt" sz="half" idx="10"/>
          </p:nvPr>
        </p:nvSpPr>
        <p:spPr/>
        <p:txBody>
          <a:bodyPr/>
          <a:lstStyle/>
          <a:p>
            <a:fld id="{4E1029E0-194F-274A-ADAE-4CEC04D9E584}" type="datetimeFigureOut">
              <a:rPr lang="en-US" smtClean="0"/>
              <a:t>1/26/26</a:t>
            </a:fld>
            <a:endParaRPr lang="en-US"/>
          </a:p>
        </p:txBody>
      </p:sp>
      <p:sp>
        <p:nvSpPr>
          <p:cNvPr id="5" name="Footer Placeholder 4">
            <a:extLst>
              <a:ext uri="{FF2B5EF4-FFF2-40B4-BE49-F238E27FC236}">
                <a16:creationId xmlns:a16="http://schemas.microsoft.com/office/drawing/2014/main" id="{DBDEDEDC-A0ED-027C-B96B-97DDFEBB46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0936B5-FBDB-D4F2-0344-0DFF53384892}"/>
              </a:ext>
            </a:extLst>
          </p:cNvPr>
          <p:cNvSpPr>
            <a:spLocks noGrp="1"/>
          </p:cNvSpPr>
          <p:nvPr>
            <p:ph type="sldNum" sz="quarter" idx="12"/>
          </p:nvPr>
        </p:nvSpPr>
        <p:spPr/>
        <p:txBody>
          <a:bodyPr/>
          <a:lstStyle/>
          <a:p>
            <a:fld id="{4443B866-DF8B-8C48-9364-DC9C9AB03814}" type="slidenum">
              <a:rPr lang="en-US" smtClean="0"/>
              <a:t>‹#›</a:t>
            </a:fld>
            <a:endParaRPr lang="en-US"/>
          </a:p>
        </p:txBody>
      </p:sp>
    </p:spTree>
    <p:extLst>
      <p:ext uri="{BB962C8B-B14F-4D97-AF65-F5344CB8AC3E}">
        <p14:creationId xmlns:p14="http://schemas.microsoft.com/office/powerpoint/2010/main" val="2605189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6B940-2A50-8D1C-E790-14C5E31357C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2EDC576-C8C8-388B-2D54-4FBE6D7EABC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2B70DD-9250-BB1B-7CD9-CB7D3BE7599F}"/>
              </a:ext>
            </a:extLst>
          </p:cNvPr>
          <p:cNvSpPr>
            <a:spLocks noGrp="1"/>
          </p:cNvSpPr>
          <p:nvPr>
            <p:ph type="dt" sz="half" idx="10"/>
          </p:nvPr>
        </p:nvSpPr>
        <p:spPr/>
        <p:txBody>
          <a:bodyPr/>
          <a:lstStyle/>
          <a:p>
            <a:fld id="{4E1029E0-194F-274A-ADAE-4CEC04D9E584}" type="datetimeFigureOut">
              <a:rPr lang="en-US" smtClean="0"/>
              <a:t>1/26/26</a:t>
            </a:fld>
            <a:endParaRPr lang="en-US"/>
          </a:p>
        </p:txBody>
      </p:sp>
      <p:sp>
        <p:nvSpPr>
          <p:cNvPr id="5" name="Footer Placeholder 4">
            <a:extLst>
              <a:ext uri="{FF2B5EF4-FFF2-40B4-BE49-F238E27FC236}">
                <a16:creationId xmlns:a16="http://schemas.microsoft.com/office/drawing/2014/main" id="{3B707334-7E6F-EA60-06FB-2B0C2E2780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D9EC58-6C84-BD15-C49D-4106E3298A71}"/>
              </a:ext>
            </a:extLst>
          </p:cNvPr>
          <p:cNvSpPr>
            <a:spLocks noGrp="1"/>
          </p:cNvSpPr>
          <p:nvPr>
            <p:ph type="sldNum" sz="quarter" idx="12"/>
          </p:nvPr>
        </p:nvSpPr>
        <p:spPr/>
        <p:txBody>
          <a:bodyPr/>
          <a:lstStyle/>
          <a:p>
            <a:fld id="{4443B866-DF8B-8C48-9364-DC9C9AB03814}" type="slidenum">
              <a:rPr lang="en-US" smtClean="0"/>
              <a:t>‹#›</a:t>
            </a:fld>
            <a:endParaRPr lang="en-US"/>
          </a:p>
        </p:txBody>
      </p:sp>
    </p:spTree>
    <p:extLst>
      <p:ext uri="{BB962C8B-B14F-4D97-AF65-F5344CB8AC3E}">
        <p14:creationId xmlns:p14="http://schemas.microsoft.com/office/powerpoint/2010/main" val="111734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37F5D-FEA4-A358-3CAB-29D59DB930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56A559-4891-BE47-DF3A-601F2BD5181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FFB7C6-D9DA-F568-D7D9-AEDC9D0B4D8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4E0C4E1-1CD9-0BD2-7C94-6C5ED525780B}"/>
              </a:ext>
            </a:extLst>
          </p:cNvPr>
          <p:cNvSpPr>
            <a:spLocks noGrp="1"/>
          </p:cNvSpPr>
          <p:nvPr>
            <p:ph type="dt" sz="half" idx="10"/>
          </p:nvPr>
        </p:nvSpPr>
        <p:spPr/>
        <p:txBody>
          <a:bodyPr/>
          <a:lstStyle/>
          <a:p>
            <a:fld id="{4E1029E0-194F-274A-ADAE-4CEC04D9E584}" type="datetimeFigureOut">
              <a:rPr lang="en-US" smtClean="0"/>
              <a:t>1/26/26</a:t>
            </a:fld>
            <a:endParaRPr lang="en-US"/>
          </a:p>
        </p:txBody>
      </p:sp>
      <p:sp>
        <p:nvSpPr>
          <p:cNvPr id="6" name="Footer Placeholder 5">
            <a:extLst>
              <a:ext uri="{FF2B5EF4-FFF2-40B4-BE49-F238E27FC236}">
                <a16:creationId xmlns:a16="http://schemas.microsoft.com/office/drawing/2014/main" id="{112BA8B5-BD75-892B-E24A-F5CF6D4D4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ABFBF0-4466-5A1E-D59C-8187EEAFA70D}"/>
              </a:ext>
            </a:extLst>
          </p:cNvPr>
          <p:cNvSpPr>
            <a:spLocks noGrp="1"/>
          </p:cNvSpPr>
          <p:nvPr>
            <p:ph type="sldNum" sz="quarter" idx="12"/>
          </p:nvPr>
        </p:nvSpPr>
        <p:spPr/>
        <p:txBody>
          <a:bodyPr/>
          <a:lstStyle/>
          <a:p>
            <a:fld id="{4443B866-DF8B-8C48-9364-DC9C9AB03814}" type="slidenum">
              <a:rPr lang="en-US" smtClean="0"/>
              <a:t>‹#›</a:t>
            </a:fld>
            <a:endParaRPr lang="en-US"/>
          </a:p>
        </p:txBody>
      </p:sp>
    </p:spTree>
    <p:extLst>
      <p:ext uri="{BB962C8B-B14F-4D97-AF65-F5344CB8AC3E}">
        <p14:creationId xmlns:p14="http://schemas.microsoft.com/office/powerpoint/2010/main" val="1403098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B215F-6943-1D15-6079-F1BD3F528F5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DDF153E-00B9-E143-38F0-EA37CE8472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73C3AAA-CC35-79EA-B0E6-5E0E437339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3005EF3-E706-DDDD-0034-5759F9B9F6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C99471-8846-BD0A-0FAA-66331DA918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D4AB557-E85E-FC2F-F8F8-17CE31E4AD49}"/>
              </a:ext>
            </a:extLst>
          </p:cNvPr>
          <p:cNvSpPr>
            <a:spLocks noGrp="1"/>
          </p:cNvSpPr>
          <p:nvPr>
            <p:ph type="dt" sz="half" idx="10"/>
          </p:nvPr>
        </p:nvSpPr>
        <p:spPr/>
        <p:txBody>
          <a:bodyPr/>
          <a:lstStyle/>
          <a:p>
            <a:fld id="{4E1029E0-194F-274A-ADAE-4CEC04D9E584}" type="datetimeFigureOut">
              <a:rPr lang="en-US" smtClean="0"/>
              <a:t>1/26/26</a:t>
            </a:fld>
            <a:endParaRPr lang="en-US"/>
          </a:p>
        </p:txBody>
      </p:sp>
      <p:sp>
        <p:nvSpPr>
          <p:cNvPr id="8" name="Footer Placeholder 7">
            <a:extLst>
              <a:ext uri="{FF2B5EF4-FFF2-40B4-BE49-F238E27FC236}">
                <a16:creationId xmlns:a16="http://schemas.microsoft.com/office/drawing/2014/main" id="{563D8F91-8431-3978-66C0-653F9ECF7B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A8B079A-8F0B-FBE7-CA82-BD23E76AC3AF}"/>
              </a:ext>
            </a:extLst>
          </p:cNvPr>
          <p:cNvSpPr>
            <a:spLocks noGrp="1"/>
          </p:cNvSpPr>
          <p:nvPr>
            <p:ph type="sldNum" sz="quarter" idx="12"/>
          </p:nvPr>
        </p:nvSpPr>
        <p:spPr/>
        <p:txBody>
          <a:bodyPr/>
          <a:lstStyle/>
          <a:p>
            <a:fld id="{4443B866-DF8B-8C48-9364-DC9C9AB03814}" type="slidenum">
              <a:rPr lang="en-US" smtClean="0"/>
              <a:t>‹#›</a:t>
            </a:fld>
            <a:endParaRPr lang="en-US"/>
          </a:p>
        </p:txBody>
      </p:sp>
    </p:spTree>
    <p:extLst>
      <p:ext uri="{BB962C8B-B14F-4D97-AF65-F5344CB8AC3E}">
        <p14:creationId xmlns:p14="http://schemas.microsoft.com/office/powerpoint/2010/main" val="3801593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3FC14-6A03-AB04-53F8-9B4764B7C9E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A85421F-DBE3-A48F-CD98-77A99083D555}"/>
              </a:ext>
            </a:extLst>
          </p:cNvPr>
          <p:cNvSpPr>
            <a:spLocks noGrp="1"/>
          </p:cNvSpPr>
          <p:nvPr>
            <p:ph type="dt" sz="half" idx="10"/>
          </p:nvPr>
        </p:nvSpPr>
        <p:spPr/>
        <p:txBody>
          <a:bodyPr/>
          <a:lstStyle/>
          <a:p>
            <a:fld id="{4E1029E0-194F-274A-ADAE-4CEC04D9E584}" type="datetimeFigureOut">
              <a:rPr lang="en-US" smtClean="0"/>
              <a:t>1/26/26</a:t>
            </a:fld>
            <a:endParaRPr lang="en-US"/>
          </a:p>
        </p:txBody>
      </p:sp>
      <p:sp>
        <p:nvSpPr>
          <p:cNvPr id="4" name="Footer Placeholder 3">
            <a:extLst>
              <a:ext uri="{FF2B5EF4-FFF2-40B4-BE49-F238E27FC236}">
                <a16:creationId xmlns:a16="http://schemas.microsoft.com/office/drawing/2014/main" id="{AA679E49-017F-1202-247C-22DDA3B9406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30FAA26-4598-295B-025B-B9885DD257E9}"/>
              </a:ext>
            </a:extLst>
          </p:cNvPr>
          <p:cNvSpPr>
            <a:spLocks noGrp="1"/>
          </p:cNvSpPr>
          <p:nvPr>
            <p:ph type="sldNum" sz="quarter" idx="12"/>
          </p:nvPr>
        </p:nvSpPr>
        <p:spPr/>
        <p:txBody>
          <a:bodyPr/>
          <a:lstStyle/>
          <a:p>
            <a:fld id="{4443B866-DF8B-8C48-9364-DC9C9AB03814}" type="slidenum">
              <a:rPr lang="en-US" smtClean="0"/>
              <a:t>‹#›</a:t>
            </a:fld>
            <a:endParaRPr lang="en-US"/>
          </a:p>
        </p:txBody>
      </p:sp>
    </p:spTree>
    <p:extLst>
      <p:ext uri="{BB962C8B-B14F-4D97-AF65-F5344CB8AC3E}">
        <p14:creationId xmlns:p14="http://schemas.microsoft.com/office/powerpoint/2010/main" val="3347951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26F470-59E6-1212-EA9B-440F1B6D777B}"/>
              </a:ext>
            </a:extLst>
          </p:cNvPr>
          <p:cNvSpPr>
            <a:spLocks noGrp="1"/>
          </p:cNvSpPr>
          <p:nvPr>
            <p:ph type="dt" sz="half" idx="10"/>
          </p:nvPr>
        </p:nvSpPr>
        <p:spPr/>
        <p:txBody>
          <a:bodyPr/>
          <a:lstStyle/>
          <a:p>
            <a:fld id="{4E1029E0-194F-274A-ADAE-4CEC04D9E584}" type="datetimeFigureOut">
              <a:rPr lang="en-US" smtClean="0"/>
              <a:t>1/26/26</a:t>
            </a:fld>
            <a:endParaRPr lang="en-US"/>
          </a:p>
        </p:txBody>
      </p:sp>
      <p:sp>
        <p:nvSpPr>
          <p:cNvPr id="3" name="Footer Placeholder 2">
            <a:extLst>
              <a:ext uri="{FF2B5EF4-FFF2-40B4-BE49-F238E27FC236}">
                <a16:creationId xmlns:a16="http://schemas.microsoft.com/office/drawing/2014/main" id="{AFB340B9-B9DC-C34E-05BA-8D5431F6269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704FE39-C872-1DA0-D82B-6F8293536E62}"/>
              </a:ext>
            </a:extLst>
          </p:cNvPr>
          <p:cNvSpPr>
            <a:spLocks noGrp="1"/>
          </p:cNvSpPr>
          <p:nvPr>
            <p:ph type="sldNum" sz="quarter" idx="12"/>
          </p:nvPr>
        </p:nvSpPr>
        <p:spPr/>
        <p:txBody>
          <a:bodyPr/>
          <a:lstStyle/>
          <a:p>
            <a:fld id="{4443B866-DF8B-8C48-9364-DC9C9AB03814}" type="slidenum">
              <a:rPr lang="en-US" smtClean="0"/>
              <a:t>‹#›</a:t>
            </a:fld>
            <a:endParaRPr lang="en-US"/>
          </a:p>
        </p:txBody>
      </p:sp>
    </p:spTree>
    <p:extLst>
      <p:ext uri="{BB962C8B-B14F-4D97-AF65-F5344CB8AC3E}">
        <p14:creationId xmlns:p14="http://schemas.microsoft.com/office/powerpoint/2010/main" val="1229926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9998E-0895-E6A2-1D4C-FBA57506AF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81F6CB1-0D95-F22A-1CF4-BBB0BA57AE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63C793C-6651-DCB2-3126-4A36D28AB3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4C33B5-6557-CA92-2F3A-2BC3BC5D6224}"/>
              </a:ext>
            </a:extLst>
          </p:cNvPr>
          <p:cNvSpPr>
            <a:spLocks noGrp="1"/>
          </p:cNvSpPr>
          <p:nvPr>
            <p:ph type="dt" sz="half" idx="10"/>
          </p:nvPr>
        </p:nvSpPr>
        <p:spPr/>
        <p:txBody>
          <a:bodyPr/>
          <a:lstStyle/>
          <a:p>
            <a:fld id="{4E1029E0-194F-274A-ADAE-4CEC04D9E584}" type="datetimeFigureOut">
              <a:rPr lang="en-US" smtClean="0"/>
              <a:t>1/26/26</a:t>
            </a:fld>
            <a:endParaRPr lang="en-US"/>
          </a:p>
        </p:txBody>
      </p:sp>
      <p:sp>
        <p:nvSpPr>
          <p:cNvPr id="6" name="Footer Placeholder 5">
            <a:extLst>
              <a:ext uri="{FF2B5EF4-FFF2-40B4-BE49-F238E27FC236}">
                <a16:creationId xmlns:a16="http://schemas.microsoft.com/office/drawing/2014/main" id="{AFA8AA75-60E7-4A58-F387-BFC4F4187C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D028B6-7CDD-7BF9-0EBE-D91DFE632C87}"/>
              </a:ext>
            </a:extLst>
          </p:cNvPr>
          <p:cNvSpPr>
            <a:spLocks noGrp="1"/>
          </p:cNvSpPr>
          <p:nvPr>
            <p:ph type="sldNum" sz="quarter" idx="12"/>
          </p:nvPr>
        </p:nvSpPr>
        <p:spPr/>
        <p:txBody>
          <a:bodyPr/>
          <a:lstStyle/>
          <a:p>
            <a:fld id="{4443B866-DF8B-8C48-9364-DC9C9AB03814}" type="slidenum">
              <a:rPr lang="en-US" smtClean="0"/>
              <a:t>‹#›</a:t>
            </a:fld>
            <a:endParaRPr lang="en-US"/>
          </a:p>
        </p:txBody>
      </p:sp>
    </p:spTree>
    <p:extLst>
      <p:ext uri="{BB962C8B-B14F-4D97-AF65-F5344CB8AC3E}">
        <p14:creationId xmlns:p14="http://schemas.microsoft.com/office/powerpoint/2010/main" val="4170661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B2E3C-DD41-951E-9AFD-2C035EF8B7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C6DE3E-301D-4E7B-E7A4-4817AFDDD4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48F505-D575-080A-F46A-CA9C0DF6C6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A6AD0D-1CA2-CED4-6A79-0BA4105114C0}"/>
              </a:ext>
            </a:extLst>
          </p:cNvPr>
          <p:cNvSpPr>
            <a:spLocks noGrp="1"/>
          </p:cNvSpPr>
          <p:nvPr>
            <p:ph type="dt" sz="half" idx="10"/>
          </p:nvPr>
        </p:nvSpPr>
        <p:spPr/>
        <p:txBody>
          <a:bodyPr/>
          <a:lstStyle/>
          <a:p>
            <a:fld id="{4E1029E0-194F-274A-ADAE-4CEC04D9E584}" type="datetimeFigureOut">
              <a:rPr lang="en-US" smtClean="0"/>
              <a:t>1/26/26</a:t>
            </a:fld>
            <a:endParaRPr lang="en-US"/>
          </a:p>
        </p:txBody>
      </p:sp>
      <p:sp>
        <p:nvSpPr>
          <p:cNvPr id="6" name="Footer Placeholder 5">
            <a:extLst>
              <a:ext uri="{FF2B5EF4-FFF2-40B4-BE49-F238E27FC236}">
                <a16:creationId xmlns:a16="http://schemas.microsoft.com/office/drawing/2014/main" id="{618E1D95-B68E-5108-A078-C84883BDCC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666B03-F56E-A83D-C79F-28093726B5D1}"/>
              </a:ext>
            </a:extLst>
          </p:cNvPr>
          <p:cNvSpPr>
            <a:spLocks noGrp="1"/>
          </p:cNvSpPr>
          <p:nvPr>
            <p:ph type="sldNum" sz="quarter" idx="12"/>
          </p:nvPr>
        </p:nvSpPr>
        <p:spPr/>
        <p:txBody>
          <a:bodyPr/>
          <a:lstStyle/>
          <a:p>
            <a:fld id="{4443B866-DF8B-8C48-9364-DC9C9AB03814}" type="slidenum">
              <a:rPr lang="en-US" smtClean="0"/>
              <a:t>‹#›</a:t>
            </a:fld>
            <a:endParaRPr lang="en-US"/>
          </a:p>
        </p:txBody>
      </p:sp>
    </p:spTree>
    <p:extLst>
      <p:ext uri="{BB962C8B-B14F-4D97-AF65-F5344CB8AC3E}">
        <p14:creationId xmlns:p14="http://schemas.microsoft.com/office/powerpoint/2010/main" val="3631718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259C4-6943-FE7A-0BD1-679394B4483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196161-2785-C639-E33D-2C0CA47B3B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0EBD24-360A-BF3D-77A9-05F632438F62}"/>
              </a:ext>
            </a:extLst>
          </p:cNvPr>
          <p:cNvSpPr>
            <a:spLocks noGrp="1"/>
          </p:cNvSpPr>
          <p:nvPr>
            <p:ph type="dt" sz="half" idx="10"/>
          </p:nvPr>
        </p:nvSpPr>
        <p:spPr/>
        <p:txBody>
          <a:bodyPr/>
          <a:lstStyle/>
          <a:p>
            <a:fld id="{4E1029E0-194F-274A-ADAE-4CEC04D9E584}" type="datetimeFigureOut">
              <a:rPr lang="en-US" smtClean="0"/>
              <a:t>1/26/26</a:t>
            </a:fld>
            <a:endParaRPr lang="en-US"/>
          </a:p>
        </p:txBody>
      </p:sp>
      <p:sp>
        <p:nvSpPr>
          <p:cNvPr id="5" name="Footer Placeholder 4">
            <a:extLst>
              <a:ext uri="{FF2B5EF4-FFF2-40B4-BE49-F238E27FC236}">
                <a16:creationId xmlns:a16="http://schemas.microsoft.com/office/drawing/2014/main" id="{E20B32EF-8830-BC55-3E4C-848E053942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E7E496-73DC-F83D-F568-A14459E5F1FC}"/>
              </a:ext>
            </a:extLst>
          </p:cNvPr>
          <p:cNvSpPr>
            <a:spLocks noGrp="1"/>
          </p:cNvSpPr>
          <p:nvPr>
            <p:ph type="sldNum" sz="quarter" idx="12"/>
          </p:nvPr>
        </p:nvSpPr>
        <p:spPr/>
        <p:txBody>
          <a:bodyPr/>
          <a:lstStyle/>
          <a:p>
            <a:fld id="{4443B866-DF8B-8C48-9364-DC9C9AB03814}" type="slidenum">
              <a:rPr lang="en-US" smtClean="0"/>
              <a:t>‹#›</a:t>
            </a:fld>
            <a:endParaRPr lang="en-US"/>
          </a:p>
        </p:txBody>
      </p:sp>
    </p:spTree>
    <p:extLst>
      <p:ext uri="{BB962C8B-B14F-4D97-AF65-F5344CB8AC3E}">
        <p14:creationId xmlns:p14="http://schemas.microsoft.com/office/powerpoint/2010/main" val="3612221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8BB9DE-6831-39D3-A1A7-DE20CFE0FDC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83AA8CC-6ED6-7B18-FE88-860C6A2018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BC3F82-E4B4-088E-4BF7-791D2267373E}"/>
              </a:ext>
            </a:extLst>
          </p:cNvPr>
          <p:cNvSpPr>
            <a:spLocks noGrp="1"/>
          </p:cNvSpPr>
          <p:nvPr>
            <p:ph type="dt" sz="half" idx="10"/>
          </p:nvPr>
        </p:nvSpPr>
        <p:spPr/>
        <p:txBody>
          <a:bodyPr/>
          <a:lstStyle/>
          <a:p>
            <a:fld id="{4E1029E0-194F-274A-ADAE-4CEC04D9E584}" type="datetimeFigureOut">
              <a:rPr lang="en-US" smtClean="0"/>
              <a:t>1/26/26</a:t>
            </a:fld>
            <a:endParaRPr lang="en-US"/>
          </a:p>
        </p:txBody>
      </p:sp>
      <p:sp>
        <p:nvSpPr>
          <p:cNvPr id="5" name="Footer Placeholder 4">
            <a:extLst>
              <a:ext uri="{FF2B5EF4-FFF2-40B4-BE49-F238E27FC236}">
                <a16:creationId xmlns:a16="http://schemas.microsoft.com/office/drawing/2014/main" id="{9E711305-9E5D-65E1-5AFB-3FAD74C380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F468BF-F1A3-725D-5B0C-04621EDEBF31}"/>
              </a:ext>
            </a:extLst>
          </p:cNvPr>
          <p:cNvSpPr>
            <a:spLocks noGrp="1"/>
          </p:cNvSpPr>
          <p:nvPr>
            <p:ph type="sldNum" sz="quarter" idx="12"/>
          </p:nvPr>
        </p:nvSpPr>
        <p:spPr/>
        <p:txBody>
          <a:bodyPr/>
          <a:lstStyle/>
          <a:p>
            <a:fld id="{4443B866-DF8B-8C48-9364-DC9C9AB03814}" type="slidenum">
              <a:rPr lang="en-US" smtClean="0"/>
              <a:t>‹#›</a:t>
            </a:fld>
            <a:endParaRPr lang="en-US"/>
          </a:p>
        </p:txBody>
      </p:sp>
    </p:spTree>
    <p:extLst>
      <p:ext uri="{BB962C8B-B14F-4D97-AF65-F5344CB8AC3E}">
        <p14:creationId xmlns:p14="http://schemas.microsoft.com/office/powerpoint/2010/main" val="1529738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26A745-8920-63AE-0138-38BD446C26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47AB5A2-5089-FEBB-C83C-5B370CF5D9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70CFA1-E37E-C1C0-3156-AA33279B886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1029E0-194F-274A-ADAE-4CEC04D9E584}" type="datetimeFigureOut">
              <a:rPr lang="en-US" smtClean="0"/>
              <a:t>1/26/26</a:t>
            </a:fld>
            <a:endParaRPr lang="en-US"/>
          </a:p>
        </p:txBody>
      </p:sp>
      <p:sp>
        <p:nvSpPr>
          <p:cNvPr id="5" name="Footer Placeholder 4">
            <a:extLst>
              <a:ext uri="{FF2B5EF4-FFF2-40B4-BE49-F238E27FC236}">
                <a16:creationId xmlns:a16="http://schemas.microsoft.com/office/drawing/2014/main" id="{3B685B5F-4CF4-16A7-C30D-3A7D765AA5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1447BFB-6FA0-6639-FDE6-F3C3AFD5D2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443B866-DF8B-8C48-9364-DC9C9AB03814}" type="slidenum">
              <a:rPr lang="en-US" smtClean="0"/>
              <a:t>‹#›</a:t>
            </a:fld>
            <a:endParaRPr lang="en-US"/>
          </a:p>
        </p:txBody>
      </p:sp>
    </p:spTree>
    <p:extLst>
      <p:ext uri="{BB962C8B-B14F-4D97-AF65-F5344CB8AC3E}">
        <p14:creationId xmlns:p14="http://schemas.microsoft.com/office/powerpoint/2010/main" val="16531763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3.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hemeOverride" Target="../theme/themeOverride4.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5.xml"/><Relationship Id="rId4" Type="http://schemas.openxmlformats.org/officeDocument/2006/relationships/image" Target="../media/image17.emf"/></Relationships>
</file>

<file path=ppt/slides/_rels/slide22.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0AA48-B2D8-35BA-043E-E265C96D1DB6}"/>
              </a:ext>
            </a:extLst>
          </p:cNvPr>
          <p:cNvSpPr>
            <a:spLocks noGrp="1"/>
          </p:cNvSpPr>
          <p:nvPr>
            <p:ph type="ctrTitle"/>
          </p:nvPr>
        </p:nvSpPr>
        <p:spPr/>
        <p:txBody>
          <a:bodyPr/>
          <a:lstStyle/>
          <a:p>
            <a:r>
              <a:rPr lang="en-US" dirty="0">
                <a:solidFill>
                  <a:srgbClr val="C00000"/>
                </a:solidFill>
              </a:rPr>
              <a:t>T23-SP-A</a:t>
            </a:r>
          </a:p>
        </p:txBody>
      </p:sp>
      <p:sp>
        <p:nvSpPr>
          <p:cNvPr id="3" name="Subtitle 2">
            <a:extLst>
              <a:ext uri="{FF2B5EF4-FFF2-40B4-BE49-F238E27FC236}">
                <a16:creationId xmlns:a16="http://schemas.microsoft.com/office/drawing/2014/main" id="{10914CB8-39D2-4F39-8174-5DFB5B3CF94F}"/>
              </a:ext>
            </a:extLst>
          </p:cNvPr>
          <p:cNvSpPr>
            <a:spLocks noGrp="1"/>
          </p:cNvSpPr>
          <p:nvPr>
            <p:ph type="subTitle" idx="1"/>
          </p:nvPr>
        </p:nvSpPr>
        <p:spPr/>
        <p:txBody>
          <a:bodyPr/>
          <a:lstStyle/>
          <a:p>
            <a:r>
              <a:rPr lang="en-US" dirty="0">
                <a:solidFill>
                  <a:srgbClr val="C00000"/>
                </a:solidFill>
              </a:rPr>
              <a:t>Shallow Heat Assessment</a:t>
            </a:r>
          </a:p>
          <a:p>
            <a:r>
              <a:rPr lang="en-US" dirty="0">
                <a:solidFill>
                  <a:srgbClr val="C00000"/>
                </a:solidFill>
              </a:rPr>
              <a:t>Cole Heap, P.G.</a:t>
            </a:r>
          </a:p>
        </p:txBody>
      </p:sp>
    </p:spTree>
    <p:extLst>
      <p:ext uri="{BB962C8B-B14F-4D97-AF65-F5344CB8AC3E}">
        <p14:creationId xmlns:p14="http://schemas.microsoft.com/office/powerpoint/2010/main" val="10508512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40000"/>
            <a:lum/>
          </a:blip>
          <a:srcRect/>
          <a:stretch>
            <a:fillRect t="65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BA5ED-E77D-B7B9-8A29-759A7892680C}"/>
              </a:ext>
            </a:extLst>
          </p:cNvPr>
          <p:cNvSpPr>
            <a:spLocks noGrp="1"/>
          </p:cNvSpPr>
          <p:nvPr>
            <p:ph type="title"/>
          </p:nvPr>
        </p:nvSpPr>
        <p:spPr/>
        <p:txBody>
          <a:bodyPr/>
          <a:lstStyle/>
          <a:p>
            <a:r>
              <a:rPr lang="en-US" dirty="0">
                <a:solidFill>
                  <a:srgbClr val="C00000"/>
                </a:solidFill>
              </a:rPr>
              <a:t>From </a:t>
            </a:r>
            <a:r>
              <a:rPr lang="en-US" dirty="0" err="1">
                <a:solidFill>
                  <a:srgbClr val="C00000"/>
                </a:solidFill>
              </a:rPr>
              <a:t>CalGEM</a:t>
            </a:r>
            <a:endParaRPr lang="en-US" dirty="0">
              <a:solidFill>
                <a:srgbClr val="C00000"/>
              </a:solidFill>
            </a:endParaRPr>
          </a:p>
        </p:txBody>
      </p:sp>
      <p:sp>
        <p:nvSpPr>
          <p:cNvPr id="3" name="Content Placeholder 2">
            <a:extLst>
              <a:ext uri="{FF2B5EF4-FFF2-40B4-BE49-F238E27FC236}">
                <a16:creationId xmlns:a16="http://schemas.microsoft.com/office/drawing/2014/main" id="{98EB66BE-B625-2E8C-7542-9E7F0248BD62}"/>
              </a:ext>
            </a:extLst>
          </p:cNvPr>
          <p:cNvSpPr>
            <a:spLocks noGrp="1"/>
          </p:cNvSpPr>
          <p:nvPr>
            <p:ph idx="1"/>
          </p:nvPr>
        </p:nvSpPr>
        <p:spPr/>
        <p:txBody>
          <a:bodyPr>
            <a:normAutofit fontScale="85000" lnSpcReduction="20000"/>
          </a:bodyPr>
          <a:lstStyle/>
          <a:p>
            <a:pPr marL="0" indent="0">
              <a:buNone/>
            </a:pPr>
            <a:r>
              <a:rPr lang="en-US" dirty="0"/>
              <a:t>Thanks for providing the temperature surveys for the requested observation wells. For TO well JB1-26S could you please provide the historical temp surveys mentioned so </a:t>
            </a:r>
            <a:r>
              <a:rPr lang="en-US" dirty="0" err="1"/>
              <a:t>CalGEM</a:t>
            </a:r>
            <a:r>
              <a:rPr lang="en-US" dirty="0"/>
              <a:t> has documentation of the shallow heat subsiding over time? Could you also provide historical temp surveys for TO well MS-1 (0402937030) as well?</a:t>
            </a:r>
            <a:br>
              <a:rPr lang="en-US" dirty="0"/>
            </a:br>
            <a:br>
              <a:rPr lang="en-US" dirty="0"/>
            </a:br>
            <a:r>
              <a:rPr lang="en-US" dirty="0"/>
              <a:t>I agree the temp surveys provided do not support a regional shallow heat anomaly. However, the two TO wells do show shallow temperature anomalies in the overburden indicating heat migrated out of zone. These wells are approximately 1,160’ distance from each other and on opposite sides of the Tulare structure suggesting two separate migration events.</a:t>
            </a:r>
            <a:br>
              <a:rPr lang="en-US" dirty="0"/>
            </a:br>
            <a:br>
              <a:rPr lang="en-US" dirty="0"/>
            </a:br>
            <a:r>
              <a:rPr lang="en-US" dirty="0"/>
              <a:t>The response for MS1-26S’s shallow heat anomaly coming from nearby well 5513U-26S due to a shallow casing hole isn’t supported by </a:t>
            </a:r>
            <a:r>
              <a:rPr lang="en-US" dirty="0" err="1"/>
              <a:t>CalGEM</a:t>
            </a:r>
            <a:r>
              <a:rPr lang="en-US" dirty="0"/>
              <a:t> records which show the well hasn’t been on steam since 2005. There is no other evidence (RA surveys, temp surveys, workovers, etc.. ) supporting this claim.</a:t>
            </a:r>
          </a:p>
          <a:p>
            <a:endParaRPr lang="en-US" dirty="0"/>
          </a:p>
        </p:txBody>
      </p:sp>
    </p:spTree>
    <p:extLst>
      <p:ext uri="{BB962C8B-B14F-4D97-AF65-F5344CB8AC3E}">
        <p14:creationId xmlns:p14="http://schemas.microsoft.com/office/powerpoint/2010/main" val="3526927619"/>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40000"/>
            <a:lum/>
          </a:blip>
          <a:srcRect/>
          <a:stretch>
            <a:fillRect t="65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D06E2-1814-4CBF-4A9C-A799F57403DF}"/>
              </a:ext>
            </a:extLst>
          </p:cNvPr>
          <p:cNvSpPr>
            <a:spLocks noGrp="1"/>
          </p:cNvSpPr>
          <p:nvPr>
            <p:ph type="title"/>
          </p:nvPr>
        </p:nvSpPr>
        <p:spPr/>
        <p:txBody>
          <a:bodyPr/>
          <a:lstStyle/>
          <a:p>
            <a:r>
              <a:rPr lang="en-US" dirty="0">
                <a:solidFill>
                  <a:srgbClr val="C00000"/>
                </a:solidFill>
              </a:rPr>
              <a:t>Area of Interest</a:t>
            </a:r>
          </a:p>
        </p:txBody>
      </p:sp>
      <p:pic>
        <p:nvPicPr>
          <p:cNvPr id="4" name="Content Placeholder 3">
            <a:extLst>
              <a:ext uri="{FF2B5EF4-FFF2-40B4-BE49-F238E27FC236}">
                <a16:creationId xmlns:a16="http://schemas.microsoft.com/office/drawing/2014/main" id="{EE725622-16E8-2834-EDA8-B4AD7279D2A3}"/>
              </a:ext>
            </a:extLst>
          </p:cNvPr>
          <p:cNvPicPr>
            <a:picLocks noGrp="1" noChangeAspect="1"/>
          </p:cNvPicPr>
          <p:nvPr>
            <p:ph idx="1"/>
          </p:nvPr>
        </p:nvPicPr>
        <p:blipFill>
          <a:blip r:embed="rId4"/>
          <a:stretch>
            <a:fillRect/>
          </a:stretch>
        </p:blipFill>
        <p:spPr>
          <a:xfrm>
            <a:off x="1822827" y="1825624"/>
            <a:ext cx="8546346" cy="4826575"/>
          </a:xfrm>
          <a:prstGeom prst="rect">
            <a:avLst/>
          </a:prstGeom>
          <a:ln>
            <a:solidFill>
              <a:schemeClr val="tx1"/>
            </a:solidFill>
          </a:ln>
        </p:spPr>
      </p:pic>
    </p:spTree>
    <p:extLst>
      <p:ext uri="{BB962C8B-B14F-4D97-AF65-F5344CB8AC3E}">
        <p14:creationId xmlns:p14="http://schemas.microsoft.com/office/powerpoint/2010/main" val="6582386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0000"/>
            <a:lum/>
          </a:blip>
          <a:srcRect/>
          <a:stretch>
            <a:fillRect t="65000" b="-9000"/>
          </a:stretch>
        </a:blipFill>
        <a:effectLst/>
      </p:bgPr>
    </p:bg>
    <p:spTree>
      <p:nvGrpSpPr>
        <p:cNvPr id="1" name=""/>
        <p:cNvGrpSpPr/>
        <p:nvPr/>
      </p:nvGrpSpPr>
      <p:grpSpPr>
        <a:xfrm>
          <a:off x="0" y="0"/>
          <a:ext cx="0" cy="0"/>
          <a:chOff x="0" y="0"/>
          <a:chExt cx="0" cy="0"/>
        </a:xfrm>
      </p:grpSpPr>
      <p:pic>
        <p:nvPicPr>
          <p:cNvPr id="5" name="Content Placeholder 4" descr="A screenshot of a map&#10;&#10;AI-generated content may be incorrect.">
            <a:extLst>
              <a:ext uri="{FF2B5EF4-FFF2-40B4-BE49-F238E27FC236}">
                <a16:creationId xmlns:a16="http://schemas.microsoft.com/office/drawing/2014/main" id="{6F50AFC2-7FA8-DEE2-2806-AD68ECD9CC0C}"/>
              </a:ext>
            </a:extLst>
          </p:cNvPr>
          <p:cNvPicPr>
            <a:picLocks noGrp="1" noChangeAspect="1"/>
          </p:cNvPicPr>
          <p:nvPr>
            <p:ph idx="1"/>
          </p:nvPr>
        </p:nvPicPr>
        <p:blipFill>
          <a:blip r:embed="rId3"/>
          <a:stretch>
            <a:fillRect/>
          </a:stretch>
        </p:blipFill>
        <p:spPr>
          <a:xfrm>
            <a:off x="2287859" y="749080"/>
            <a:ext cx="7616283" cy="5359841"/>
          </a:xfrm>
          <a:ln>
            <a:solidFill>
              <a:schemeClr val="tx1"/>
            </a:solidFill>
          </a:ln>
        </p:spPr>
      </p:pic>
      <p:sp>
        <p:nvSpPr>
          <p:cNvPr id="6" name="5-Point Star 5">
            <a:extLst>
              <a:ext uri="{FF2B5EF4-FFF2-40B4-BE49-F238E27FC236}">
                <a16:creationId xmlns:a16="http://schemas.microsoft.com/office/drawing/2014/main" id="{A9F9929A-147A-3371-873D-096E38FAFCB3}"/>
              </a:ext>
            </a:extLst>
          </p:cNvPr>
          <p:cNvSpPr/>
          <p:nvPr/>
        </p:nvSpPr>
        <p:spPr>
          <a:xfrm>
            <a:off x="6333893" y="3345366"/>
            <a:ext cx="367990" cy="334536"/>
          </a:xfrm>
          <a:prstGeom prst="star5">
            <a:avLst/>
          </a:prstGeom>
          <a:ln w="28575"/>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090298B-7228-FEDD-BA53-25CB410D8AD9}"/>
              </a:ext>
            </a:extLst>
          </p:cNvPr>
          <p:cNvSpPr txBox="1"/>
          <p:nvPr/>
        </p:nvSpPr>
        <p:spPr>
          <a:xfrm>
            <a:off x="5606122" y="3143302"/>
            <a:ext cx="979755" cy="369332"/>
          </a:xfrm>
          <a:prstGeom prst="rect">
            <a:avLst/>
          </a:prstGeom>
          <a:noFill/>
        </p:spPr>
        <p:txBody>
          <a:bodyPr wrap="none" rtlCol="0">
            <a:spAutoFit/>
          </a:bodyPr>
          <a:lstStyle/>
          <a:p>
            <a:r>
              <a:rPr lang="en-US" dirty="0">
                <a:solidFill>
                  <a:srgbClr val="002060"/>
                </a:solidFill>
              </a:rPr>
              <a:t>JB7-26S</a:t>
            </a:r>
          </a:p>
        </p:txBody>
      </p:sp>
    </p:spTree>
    <p:extLst>
      <p:ext uri="{BB962C8B-B14F-4D97-AF65-F5344CB8AC3E}">
        <p14:creationId xmlns:p14="http://schemas.microsoft.com/office/powerpoint/2010/main" val="783488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0000"/>
            <a:lum/>
          </a:blip>
          <a:srcRect/>
          <a:stretch>
            <a:fillRect t="65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93365-45B7-CF35-F03F-54F21BF393BB}"/>
              </a:ext>
            </a:extLst>
          </p:cNvPr>
          <p:cNvSpPr>
            <a:spLocks noGrp="1"/>
          </p:cNvSpPr>
          <p:nvPr>
            <p:ph type="title"/>
          </p:nvPr>
        </p:nvSpPr>
        <p:spPr/>
        <p:txBody>
          <a:bodyPr/>
          <a:lstStyle/>
          <a:p>
            <a:r>
              <a:rPr lang="en-US" dirty="0">
                <a:solidFill>
                  <a:srgbClr val="C00000"/>
                </a:solidFill>
              </a:rPr>
              <a:t>JB7-26S (0402949610)</a:t>
            </a:r>
          </a:p>
        </p:txBody>
      </p:sp>
      <p:sp>
        <p:nvSpPr>
          <p:cNvPr id="3" name="Content Placeholder 2">
            <a:extLst>
              <a:ext uri="{FF2B5EF4-FFF2-40B4-BE49-F238E27FC236}">
                <a16:creationId xmlns:a16="http://schemas.microsoft.com/office/drawing/2014/main" id="{50C3A7BB-8FE5-0C57-AC39-24439F984960}"/>
              </a:ext>
            </a:extLst>
          </p:cNvPr>
          <p:cNvSpPr>
            <a:spLocks noGrp="1"/>
          </p:cNvSpPr>
          <p:nvPr>
            <p:ph idx="1"/>
          </p:nvPr>
        </p:nvSpPr>
        <p:spPr/>
        <p:txBody>
          <a:bodyPr/>
          <a:lstStyle/>
          <a:p>
            <a:r>
              <a:rPr lang="en-US" dirty="0"/>
              <a:t>300’ Radius was generated around this well location</a:t>
            </a:r>
          </a:p>
          <a:p>
            <a:r>
              <a:rPr lang="en-US" dirty="0"/>
              <a:t>Distance from JB1-26S: ~160 ft</a:t>
            </a:r>
          </a:p>
          <a:p>
            <a:r>
              <a:rPr lang="en-US" dirty="0"/>
              <a:t>Abandonment Date: Started 8/23/2024 (not yet designated as complete in </a:t>
            </a:r>
            <a:r>
              <a:rPr lang="en-US" dirty="0" err="1"/>
              <a:t>OpenWells</a:t>
            </a:r>
            <a:r>
              <a:rPr lang="en-US" dirty="0"/>
              <a:t>)</a:t>
            </a:r>
          </a:p>
          <a:p>
            <a:r>
              <a:rPr lang="en-US" dirty="0" err="1"/>
              <a:t>CalGEM</a:t>
            </a:r>
            <a:r>
              <a:rPr lang="en-US" dirty="0"/>
              <a:t> witnessed and approved full P&amp;A on 10/24/2024</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087514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0000"/>
            <a:lum/>
          </a:blip>
          <a:srcRect/>
          <a:stretch>
            <a:fillRect t="65000" b="-9000"/>
          </a:stretch>
        </a:blipFill>
        <a:effectLst/>
      </p:bgPr>
    </p:bg>
    <p:spTree>
      <p:nvGrpSpPr>
        <p:cNvPr id="1" name="">
          <a:extLst>
            <a:ext uri="{FF2B5EF4-FFF2-40B4-BE49-F238E27FC236}">
              <a16:creationId xmlns:a16="http://schemas.microsoft.com/office/drawing/2014/main" id="{EF624C4A-18B8-FB7A-BA93-1EC4450B3055}"/>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C595622-E1ED-632D-E04D-C8537F1D4DF2}"/>
              </a:ext>
            </a:extLst>
          </p:cNvPr>
          <p:cNvPicPr>
            <a:picLocks noGrp="1" noChangeAspect="1"/>
          </p:cNvPicPr>
          <p:nvPr>
            <p:ph idx="1"/>
          </p:nvPr>
        </p:nvPicPr>
        <p:blipFill>
          <a:blip r:embed="rId3"/>
          <a:stretch>
            <a:fillRect/>
          </a:stretch>
        </p:blipFill>
        <p:spPr>
          <a:xfrm>
            <a:off x="2220558" y="434340"/>
            <a:ext cx="7750884" cy="5989320"/>
          </a:xfrm>
          <a:ln>
            <a:solidFill>
              <a:schemeClr val="tx1"/>
            </a:solidFill>
          </a:ln>
        </p:spPr>
      </p:pic>
    </p:spTree>
    <p:extLst>
      <p:ext uri="{BB962C8B-B14F-4D97-AF65-F5344CB8AC3E}">
        <p14:creationId xmlns:p14="http://schemas.microsoft.com/office/powerpoint/2010/main" val="24571039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0000"/>
            <a:lum/>
          </a:blip>
          <a:srcRect/>
          <a:stretch>
            <a:fillRect t="65000" b="-9000"/>
          </a:stretch>
        </a:blipFill>
        <a:effectLst/>
      </p:bgPr>
    </p:bg>
    <p:spTree>
      <p:nvGrpSpPr>
        <p:cNvPr id="1" name="">
          <a:extLst>
            <a:ext uri="{FF2B5EF4-FFF2-40B4-BE49-F238E27FC236}">
              <a16:creationId xmlns:a16="http://schemas.microsoft.com/office/drawing/2014/main" id="{6FF70DBB-28E3-8068-E045-FC44215F0671}"/>
            </a:ext>
          </a:extLst>
        </p:cNvPr>
        <p:cNvGrpSpPr/>
        <p:nvPr/>
      </p:nvGrpSpPr>
      <p:grpSpPr>
        <a:xfrm>
          <a:off x="0" y="0"/>
          <a:ext cx="0" cy="0"/>
          <a:chOff x="0" y="0"/>
          <a:chExt cx="0" cy="0"/>
        </a:xfrm>
      </p:grpSpPr>
      <p:pic>
        <p:nvPicPr>
          <p:cNvPr id="5" name="Content Placeholder 4" descr="A screenshot of a map&#10;&#10;AI-generated content may be incorrect.">
            <a:extLst>
              <a:ext uri="{FF2B5EF4-FFF2-40B4-BE49-F238E27FC236}">
                <a16:creationId xmlns:a16="http://schemas.microsoft.com/office/drawing/2014/main" id="{3FC95B13-FC15-BFAE-2CEA-0BE518A977E0}"/>
              </a:ext>
            </a:extLst>
          </p:cNvPr>
          <p:cNvPicPr>
            <a:picLocks noGrp="1" noChangeAspect="1"/>
          </p:cNvPicPr>
          <p:nvPr>
            <p:ph idx="1"/>
          </p:nvPr>
        </p:nvPicPr>
        <p:blipFill>
          <a:blip r:embed="rId3"/>
          <a:stretch>
            <a:fillRect/>
          </a:stretch>
        </p:blipFill>
        <p:spPr>
          <a:xfrm>
            <a:off x="2287859" y="749080"/>
            <a:ext cx="7616283" cy="5359841"/>
          </a:xfrm>
          <a:ln>
            <a:solidFill>
              <a:schemeClr val="tx1"/>
            </a:solidFill>
          </a:ln>
        </p:spPr>
      </p:pic>
      <p:sp>
        <p:nvSpPr>
          <p:cNvPr id="6" name="5-Point Star 5">
            <a:extLst>
              <a:ext uri="{FF2B5EF4-FFF2-40B4-BE49-F238E27FC236}">
                <a16:creationId xmlns:a16="http://schemas.microsoft.com/office/drawing/2014/main" id="{1194568E-1AB4-5122-F923-48EF1F85B3DE}"/>
              </a:ext>
            </a:extLst>
          </p:cNvPr>
          <p:cNvSpPr/>
          <p:nvPr/>
        </p:nvSpPr>
        <p:spPr>
          <a:xfrm>
            <a:off x="6401882" y="2091525"/>
            <a:ext cx="367990" cy="334536"/>
          </a:xfrm>
          <a:prstGeom prst="star5">
            <a:avLst/>
          </a:prstGeom>
          <a:ln w="28575"/>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E48D316-0242-87BA-5248-7B5F5DF6D67B}"/>
              </a:ext>
            </a:extLst>
          </p:cNvPr>
          <p:cNvSpPr txBox="1"/>
          <p:nvPr/>
        </p:nvSpPr>
        <p:spPr>
          <a:xfrm>
            <a:off x="6585877" y="2426061"/>
            <a:ext cx="979755" cy="369332"/>
          </a:xfrm>
          <a:prstGeom prst="rect">
            <a:avLst/>
          </a:prstGeom>
          <a:noFill/>
        </p:spPr>
        <p:txBody>
          <a:bodyPr wrap="none" rtlCol="0">
            <a:spAutoFit/>
          </a:bodyPr>
          <a:lstStyle/>
          <a:p>
            <a:r>
              <a:rPr lang="en-US" dirty="0">
                <a:solidFill>
                  <a:srgbClr val="002060"/>
                </a:solidFill>
              </a:rPr>
              <a:t>JB1-26S</a:t>
            </a:r>
          </a:p>
        </p:txBody>
      </p:sp>
    </p:spTree>
    <p:extLst>
      <p:ext uri="{BB962C8B-B14F-4D97-AF65-F5344CB8AC3E}">
        <p14:creationId xmlns:p14="http://schemas.microsoft.com/office/powerpoint/2010/main" val="2714917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0000"/>
            <a:lum/>
          </a:blip>
          <a:srcRect/>
          <a:stretch>
            <a:fillRect t="65000" b="-9000"/>
          </a:stretch>
        </a:blipFill>
        <a:effectLst/>
      </p:bgPr>
    </p:bg>
    <p:spTree>
      <p:nvGrpSpPr>
        <p:cNvPr id="1" name="">
          <a:extLst>
            <a:ext uri="{FF2B5EF4-FFF2-40B4-BE49-F238E27FC236}">
              <a16:creationId xmlns:a16="http://schemas.microsoft.com/office/drawing/2014/main" id="{CF67186D-1B1B-A0BE-D000-3E2F36CC6A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A4FA2F-FA09-CEE9-2327-BCD9A4F6F5D9}"/>
              </a:ext>
            </a:extLst>
          </p:cNvPr>
          <p:cNvSpPr>
            <a:spLocks noGrp="1"/>
          </p:cNvSpPr>
          <p:nvPr>
            <p:ph type="title"/>
          </p:nvPr>
        </p:nvSpPr>
        <p:spPr/>
        <p:txBody>
          <a:bodyPr/>
          <a:lstStyle/>
          <a:p>
            <a:r>
              <a:rPr lang="en-US" dirty="0">
                <a:solidFill>
                  <a:srgbClr val="C00000"/>
                </a:solidFill>
              </a:rPr>
              <a:t>JB1-26S (0402948872)</a:t>
            </a:r>
          </a:p>
        </p:txBody>
      </p:sp>
      <p:sp>
        <p:nvSpPr>
          <p:cNvPr id="3" name="Content Placeholder 2">
            <a:extLst>
              <a:ext uri="{FF2B5EF4-FFF2-40B4-BE49-F238E27FC236}">
                <a16:creationId xmlns:a16="http://schemas.microsoft.com/office/drawing/2014/main" id="{FEF07D91-9FD0-1F0E-1008-E62149374B3D}"/>
              </a:ext>
            </a:extLst>
          </p:cNvPr>
          <p:cNvSpPr>
            <a:spLocks noGrp="1"/>
          </p:cNvSpPr>
          <p:nvPr>
            <p:ph idx="1"/>
          </p:nvPr>
        </p:nvSpPr>
        <p:spPr>
          <a:xfrm>
            <a:off x="579863" y="1572322"/>
            <a:ext cx="10995103" cy="4920553"/>
          </a:xfrm>
        </p:spPr>
        <p:txBody>
          <a:bodyPr>
            <a:normAutofit/>
          </a:bodyPr>
          <a:lstStyle/>
          <a:p>
            <a:r>
              <a:rPr lang="en-US" dirty="0"/>
              <a:t>Distance from JB7-26S: ~160 ft</a:t>
            </a:r>
          </a:p>
          <a:p>
            <a:r>
              <a:rPr lang="en-US" dirty="0"/>
              <a:t>Distance from 5704U-26S (proposed injector): ~357 ft</a:t>
            </a:r>
          </a:p>
          <a:p>
            <a:r>
              <a:rPr lang="en-US" dirty="0"/>
              <a:t>Released for abandonment on 7/23/2025</a:t>
            </a:r>
          </a:p>
          <a:p>
            <a:r>
              <a:rPr lang="en-US" dirty="0"/>
              <a:t>Temperature survey in December 2025 shows possible decrease in temperature; however, fluid level at the time of the survey is at 350’ showing a possible hole in the casing and an unreliable temperature survey above the FL depth</a:t>
            </a:r>
          </a:p>
          <a:p>
            <a:r>
              <a:rPr lang="en-US" dirty="0"/>
              <a:t>Well is ~4 ft from ZEI edge for injector 5704U-26S</a:t>
            </a:r>
          </a:p>
          <a:p>
            <a:r>
              <a:rPr lang="en-US" dirty="0"/>
              <a:t>Well is ~ 19 ft from ZEI edge for injector 5704L-26S</a:t>
            </a:r>
          </a:p>
          <a:p>
            <a:r>
              <a:rPr lang="en-US" dirty="0"/>
              <a:t>On 9/20/2017, while running a CNL, vendor could not get past 730 ft</a:t>
            </a: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415164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0000"/>
            <a:lum/>
          </a:blip>
          <a:srcRect/>
          <a:stretch>
            <a:fillRect t="65000" b="-9000"/>
          </a:stretch>
        </a:blip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BB40632-7D20-2712-8AF2-05A299518B62}"/>
              </a:ext>
            </a:extLst>
          </p:cNvPr>
          <p:cNvPicPr>
            <a:picLocks noGrp="1" noChangeAspect="1"/>
          </p:cNvPicPr>
          <p:nvPr>
            <p:ph idx="1"/>
          </p:nvPr>
        </p:nvPicPr>
        <p:blipFill>
          <a:blip r:embed="rId3"/>
          <a:stretch>
            <a:fillRect/>
          </a:stretch>
        </p:blipFill>
        <p:spPr>
          <a:xfrm>
            <a:off x="2220558" y="434340"/>
            <a:ext cx="7750884" cy="5989320"/>
          </a:xfrm>
          <a:ln>
            <a:solidFill>
              <a:schemeClr val="tx1"/>
            </a:solidFill>
          </a:ln>
        </p:spPr>
      </p:pic>
    </p:spTree>
    <p:extLst>
      <p:ext uri="{BB962C8B-B14F-4D97-AF65-F5344CB8AC3E}">
        <p14:creationId xmlns:p14="http://schemas.microsoft.com/office/powerpoint/2010/main" val="40688298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0000"/>
            <a:lum/>
          </a:blip>
          <a:srcRect/>
          <a:stretch>
            <a:fillRect t="65000" b="-9000"/>
          </a:stretch>
        </a:blipFill>
        <a:effectLst/>
      </p:bgPr>
    </p:bg>
    <p:spTree>
      <p:nvGrpSpPr>
        <p:cNvPr id="1" name="">
          <a:extLst>
            <a:ext uri="{FF2B5EF4-FFF2-40B4-BE49-F238E27FC236}">
              <a16:creationId xmlns:a16="http://schemas.microsoft.com/office/drawing/2014/main" id="{08411058-D8B1-B2EE-1B26-E41E03DA244D}"/>
            </a:ext>
          </a:extLst>
        </p:cNvPr>
        <p:cNvGrpSpPr/>
        <p:nvPr/>
      </p:nvGrpSpPr>
      <p:grpSpPr>
        <a:xfrm>
          <a:off x="0" y="0"/>
          <a:ext cx="0" cy="0"/>
          <a:chOff x="0" y="0"/>
          <a:chExt cx="0" cy="0"/>
        </a:xfrm>
      </p:grpSpPr>
      <p:pic>
        <p:nvPicPr>
          <p:cNvPr id="5" name="Content Placeholder 4" descr="A screenshot of a map&#10;&#10;AI-generated content may be incorrect.">
            <a:extLst>
              <a:ext uri="{FF2B5EF4-FFF2-40B4-BE49-F238E27FC236}">
                <a16:creationId xmlns:a16="http://schemas.microsoft.com/office/drawing/2014/main" id="{2E9CA78F-D9DA-A2A0-9902-9803030769E4}"/>
              </a:ext>
            </a:extLst>
          </p:cNvPr>
          <p:cNvPicPr>
            <a:picLocks noGrp="1" noChangeAspect="1"/>
          </p:cNvPicPr>
          <p:nvPr>
            <p:ph idx="1"/>
          </p:nvPr>
        </p:nvPicPr>
        <p:blipFill>
          <a:blip r:embed="rId3"/>
          <a:stretch>
            <a:fillRect/>
          </a:stretch>
        </p:blipFill>
        <p:spPr>
          <a:xfrm>
            <a:off x="2287859" y="749080"/>
            <a:ext cx="7616283" cy="5359841"/>
          </a:xfrm>
          <a:ln>
            <a:solidFill>
              <a:schemeClr val="tx1"/>
            </a:solidFill>
          </a:ln>
        </p:spPr>
      </p:pic>
      <p:sp>
        <p:nvSpPr>
          <p:cNvPr id="6" name="5-Point Star 5">
            <a:extLst>
              <a:ext uri="{FF2B5EF4-FFF2-40B4-BE49-F238E27FC236}">
                <a16:creationId xmlns:a16="http://schemas.microsoft.com/office/drawing/2014/main" id="{1B73E157-D9DB-1147-06EB-5507AAB68922}"/>
              </a:ext>
            </a:extLst>
          </p:cNvPr>
          <p:cNvSpPr/>
          <p:nvPr/>
        </p:nvSpPr>
        <p:spPr>
          <a:xfrm>
            <a:off x="5587843" y="1991164"/>
            <a:ext cx="367990" cy="334536"/>
          </a:xfrm>
          <a:prstGeom prst="star5">
            <a:avLst/>
          </a:prstGeom>
          <a:ln w="28575"/>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3D842EB-F7E5-03F1-6BCC-84DEF0F3144B}"/>
              </a:ext>
            </a:extLst>
          </p:cNvPr>
          <p:cNvSpPr txBox="1"/>
          <p:nvPr/>
        </p:nvSpPr>
        <p:spPr>
          <a:xfrm>
            <a:off x="4400238" y="2158432"/>
            <a:ext cx="1290738" cy="369332"/>
          </a:xfrm>
          <a:prstGeom prst="rect">
            <a:avLst/>
          </a:prstGeom>
          <a:noFill/>
        </p:spPr>
        <p:txBody>
          <a:bodyPr wrap="none" rtlCol="0">
            <a:spAutoFit/>
          </a:bodyPr>
          <a:lstStyle/>
          <a:p>
            <a:r>
              <a:rPr lang="en-US" dirty="0">
                <a:solidFill>
                  <a:srgbClr val="002060"/>
                </a:solidFill>
              </a:rPr>
              <a:t>5712U-26S</a:t>
            </a:r>
          </a:p>
        </p:txBody>
      </p:sp>
    </p:spTree>
    <p:extLst>
      <p:ext uri="{BB962C8B-B14F-4D97-AF65-F5344CB8AC3E}">
        <p14:creationId xmlns:p14="http://schemas.microsoft.com/office/powerpoint/2010/main" val="13327457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0000"/>
            <a:lum/>
          </a:blip>
          <a:srcRect/>
          <a:stretch>
            <a:fillRect t="65000" b="-9000"/>
          </a:stretch>
        </a:blipFill>
        <a:effectLst/>
      </p:bgPr>
    </p:bg>
    <p:spTree>
      <p:nvGrpSpPr>
        <p:cNvPr id="1" name="">
          <a:extLst>
            <a:ext uri="{FF2B5EF4-FFF2-40B4-BE49-F238E27FC236}">
              <a16:creationId xmlns:a16="http://schemas.microsoft.com/office/drawing/2014/main" id="{14EB7382-235D-042A-3F0C-CA9A14D742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4F3607-A31B-7916-0528-5CEC89AF94BD}"/>
              </a:ext>
            </a:extLst>
          </p:cNvPr>
          <p:cNvSpPr>
            <a:spLocks noGrp="1"/>
          </p:cNvSpPr>
          <p:nvPr>
            <p:ph type="title"/>
          </p:nvPr>
        </p:nvSpPr>
        <p:spPr>
          <a:xfrm>
            <a:off x="838200" y="-68541"/>
            <a:ext cx="10515600" cy="1325563"/>
          </a:xfrm>
        </p:spPr>
        <p:txBody>
          <a:bodyPr/>
          <a:lstStyle/>
          <a:p>
            <a:r>
              <a:rPr lang="en-US" dirty="0">
                <a:solidFill>
                  <a:srgbClr val="C00000"/>
                </a:solidFill>
              </a:rPr>
              <a:t>5712U-26S (0403032786)</a:t>
            </a:r>
          </a:p>
        </p:txBody>
      </p:sp>
      <p:sp>
        <p:nvSpPr>
          <p:cNvPr id="3" name="Content Placeholder 2">
            <a:extLst>
              <a:ext uri="{FF2B5EF4-FFF2-40B4-BE49-F238E27FC236}">
                <a16:creationId xmlns:a16="http://schemas.microsoft.com/office/drawing/2014/main" id="{1479F858-2BEC-0E90-75A7-2653AF902A22}"/>
              </a:ext>
            </a:extLst>
          </p:cNvPr>
          <p:cNvSpPr>
            <a:spLocks noGrp="1"/>
          </p:cNvSpPr>
          <p:nvPr>
            <p:ph idx="1"/>
          </p:nvPr>
        </p:nvSpPr>
        <p:spPr>
          <a:xfrm>
            <a:off x="838199" y="944679"/>
            <a:ext cx="10747917" cy="4351338"/>
          </a:xfrm>
        </p:spPr>
        <p:txBody>
          <a:bodyPr/>
          <a:lstStyle/>
          <a:p>
            <a:r>
              <a:rPr lang="en-US" dirty="0"/>
              <a:t>Distance from JB1-26S: ~100 ft</a:t>
            </a:r>
          </a:p>
          <a:p>
            <a:r>
              <a:rPr lang="en-US" dirty="0"/>
              <a:t>Abandonment Date: 11/05/2019</a:t>
            </a:r>
          </a:p>
          <a:p>
            <a:r>
              <a:rPr lang="en-US" dirty="0"/>
              <a:t>Cement to surface on abandonment, no issues or cement fallback</a:t>
            </a:r>
          </a:p>
          <a:p>
            <a:endParaRPr lang="en-US" dirty="0"/>
          </a:p>
          <a:p>
            <a:endParaRPr lang="en-US" dirty="0"/>
          </a:p>
          <a:p>
            <a:endParaRPr lang="en-US" dirty="0"/>
          </a:p>
          <a:p>
            <a:endParaRPr lang="en-US" dirty="0"/>
          </a:p>
          <a:p>
            <a:endParaRPr lang="en-US" dirty="0"/>
          </a:p>
        </p:txBody>
      </p:sp>
      <p:pic>
        <p:nvPicPr>
          <p:cNvPr id="5" name="Picture 4" descr="A screenshot of a computer&#10;&#10;AI-generated content may be incorrect.">
            <a:extLst>
              <a:ext uri="{FF2B5EF4-FFF2-40B4-BE49-F238E27FC236}">
                <a16:creationId xmlns:a16="http://schemas.microsoft.com/office/drawing/2014/main" id="{7E876333-18C5-6CA3-71BA-954DCBD6C1FF}"/>
              </a:ext>
            </a:extLst>
          </p:cNvPr>
          <p:cNvPicPr>
            <a:picLocks noChangeAspect="1"/>
          </p:cNvPicPr>
          <p:nvPr/>
        </p:nvPicPr>
        <p:blipFill>
          <a:blip r:embed="rId3"/>
          <a:stretch>
            <a:fillRect/>
          </a:stretch>
        </p:blipFill>
        <p:spPr>
          <a:xfrm>
            <a:off x="3136611" y="2518832"/>
            <a:ext cx="5918779" cy="4339168"/>
          </a:xfrm>
          <a:prstGeom prst="rect">
            <a:avLst/>
          </a:prstGeom>
        </p:spPr>
      </p:pic>
      <p:sp>
        <p:nvSpPr>
          <p:cNvPr id="6" name="TextBox 5">
            <a:extLst>
              <a:ext uri="{FF2B5EF4-FFF2-40B4-BE49-F238E27FC236}">
                <a16:creationId xmlns:a16="http://schemas.microsoft.com/office/drawing/2014/main" id="{CE3A1BC9-452E-44F8-9BD8-4997E25A3040}"/>
              </a:ext>
            </a:extLst>
          </p:cNvPr>
          <p:cNvSpPr txBox="1"/>
          <p:nvPr/>
        </p:nvSpPr>
        <p:spPr>
          <a:xfrm>
            <a:off x="0" y="4042085"/>
            <a:ext cx="3228576" cy="646331"/>
          </a:xfrm>
          <a:prstGeom prst="rect">
            <a:avLst/>
          </a:prstGeom>
          <a:noFill/>
        </p:spPr>
        <p:txBody>
          <a:bodyPr wrap="none" rtlCol="0">
            <a:spAutoFit/>
          </a:bodyPr>
          <a:lstStyle/>
          <a:p>
            <a:r>
              <a:rPr lang="en-US" dirty="0"/>
              <a:t>*No history of failed injection</a:t>
            </a:r>
            <a:br>
              <a:rPr lang="en-US" dirty="0"/>
            </a:br>
            <a:r>
              <a:rPr lang="en-US" dirty="0"/>
              <a:t>profiles or injection out of zone</a:t>
            </a:r>
          </a:p>
        </p:txBody>
      </p:sp>
    </p:spTree>
    <p:extLst>
      <p:ext uri="{BB962C8B-B14F-4D97-AF65-F5344CB8AC3E}">
        <p14:creationId xmlns:p14="http://schemas.microsoft.com/office/powerpoint/2010/main" val="39273245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0000"/>
            <a:lum/>
          </a:blip>
          <a:srcRect/>
          <a:stretch>
            <a:fillRect t="65000" b="-9000"/>
          </a:stretch>
        </a:blipFill>
        <a:effectLst/>
      </p:bgPr>
    </p:bg>
    <p:spTree>
      <p:nvGrpSpPr>
        <p:cNvPr id="1" name="">
          <a:extLst>
            <a:ext uri="{FF2B5EF4-FFF2-40B4-BE49-F238E27FC236}">
              <a16:creationId xmlns:a16="http://schemas.microsoft.com/office/drawing/2014/main" id="{5CAE5D55-EEC1-BB32-4789-8A9CEAA0CF2B}"/>
            </a:ext>
          </a:extLst>
        </p:cNvPr>
        <p:cNvGrpSpPr/>
        <p:nvPr/>
      </p:nvGrpSpPr>
      <p:grpSpPr>
        <a:xfrm>
          <a:off x="0" y="0"/>
          <a:ext cx="0" cy="0"/>
          <a:chOff x="0" y="0"/>
          <a:chExt cx="0" cy="0"/>
        </a:xfrm>
      </p:grpSpPr>
      <p:pic>
        <p:nvPicPr>
          <p:cNvPr id="5" name="Content Placeholder 4" descr="A screenshot of a map&#10;&#10;AI-generated content may be incorrect.">
            <a:extLst>
              <a:ext uri="{FF2B5EF4-FFF2-40B4-BE49-F238E27FC236}">
                <a16:creationId xmlns:a16="http://schemas.microsoft.com/office/drawing/2014/main" id="{B2D3EF93-1F38-4069-889F-364E55BFE309}"/>
              </a:ext>
            </a:extLst>
          </p:cNvPr>
          <p:cNvPicPr>
            <a:picLocks noGrp="1" noChangeAspect="1"/>
          </p:cNvPicPr>
          <p:nvPr>
            <p:ph idx="1"/>
          </p:nvPr>
        </p:nvPicPr>
        <p:blipFill>
          <a:blip r:embed="rId3"/>
          <a:stretch>
            <a:fillRect/>
          </a:stretch>
        </p:blipFill>
        <p:spPr>
          <a:xfrm>
            <a:off x="2287859" y="749080"/>
            <a:ext cx="7616283" cy="5359841"/>
          </a:xfrm>
          <a:ln>
            <a:solidFill>
              <a:schemeClr val="tx1"/>
            </a:solidFill>
          </a:ln>
        </p:spPr>
      </p:pic>
      <p:sp>
        <p:nvSpPr>
          <p:cNvPr id="6" name="5-Point Star 5">
            <a:extLst>
              <a:ext uri="{FF2B5EF4-FFF2-40B4-BE49-F238E27FC236}">
                <a16:creationId xmlns:a16="http://schemas.microsoft.com/office/drawing/2014/main" id="{E482885B-597B-7CD7-8393-5E75765C1090}"/>
              </a:ext>
            </a:extLst>
          </p:cNvPr>
          <p:cNvSpPr/>
          <p:nvPr/>
        </p:nvSpPr>
        <p:spPr>
          <a:xfrm>
            <a:off x="5420575" y="3401793"/>
            <a:ext cx="367990" cy="334536"/>
          </a:xfrm>
          <a:prstGeom prst="star5">
            <a:avLst/>
          </a:prstGeom>
          <a:ln w="28575"/>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6AC53FB-7DFC-04AA-F970-782C45A53B0F}"/>
              </a:ext>
            </a:extLst>
          </p:cNvPr>
          <p:cNvSpPr txBox="1"/>
          <p:nvPr/>
        </p:nvSpPr>
        <p:spPr>
          <a:xfrm>
            <a:off x="4313832" y="3736329"/>
            <a:ext cx="1290738" cy="369332"/>
          </a:xfrm>
          <a:prstGeom prst="rect">
            <a:avLst/>
          </a:prstGeom>
          <a:noFill/>
        </p:spPr>
        <p:txBody>
          <a:bodyPr wrap="none" rtlCol="0">
            <a:spAutoFit/>
          </a:bodyPr>
          <a:lstStyle/>
          <a:p>
            <a:r>
              <a:rPr lang="en-US" dirty="0">
                <a:solidFill>
                  <a:srgbClr val="002060"/>
                </a:solidFill>
              </a:rPr>
              <a:t>5712U-26S</a:t>
            </a:r>
          </a:p>
        </p:txBody>
      </p:sp>
    </p:spTree>
    <p:extLst>
      <p:ext uri="{BB962C8B-B14F-4D97-AF65-F5344CB8AC3E}">
        <p14:creationId xmlns:p14="http://schemas.microsoft.com/office/powerpoint/2010/main" val="17575762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0000"/>
            <a:lum/>
          </a:blip>
          <a:srcRect/>
          <a:stretch>
            <a:fillRect t="65000" b="-9000"/>
          </a:stretch>
        </a:blipFill>
        <a:effectLst/>
      </p:bgPr>
    </p:bg>
    <p:spTree>
      <p:nvGrpSpPr>
        <p:cNvPr id="1" name="">
          <a:extLst>
            <a:ext uri="{FF2B5EF4-FFF2-40B4-BE49-F238E27FC236}">
              <a16:creationId xmlns:a16="http://schemas.microsoft.com/office/drawing/2014/main" id="{3C33C5A4-FBBE-D860-7FE0-99C905BD9D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AEC4BC-FA09-8CDA-BC9D-196648ECDFAE}"/>
              </a:ext>
            </a:extLst>
          </p:cNvPr>
          <p:cNvSpPr>
            <a:spLocks noGrp="1"/>
          </p:cNvSpPr>
          <p:nvPr>
            <p:ph type="title"/>
          </p:nvPr>
        </p:nvSpPr>
        <p:spPr>
          <a:xfrm>
            <a:off x="838200" y="243693"/>
            <a:ext cx="10515600" cy="1325563"/>
          </a:xfrm>
        </p:spPr>
        <p:txBody>
          <a:bodyPr/>
          <a:lstStyle/>
          <a:p>
            <a:r>
              <a:rPr lang="en-US" dirty="0">
                <a:solidFill>
                  <a:srgbClr val="C00000"/>
                </a:solidFill>
              </a:rPr>
              <a:t>5713-26S_ST1 (0402979560)</a:t>
            </a:r>
          </a:p>
        </p:txBody>
      </p:sp>
      <p:sp>
        <p:nvSpPr>
          <p:cNvPr id="3" name="Content Placeholder 2">
            <a:extLst>
              <a:ext uri="{FF2B5EF4-FFF2-40B4-BE49-F238E27FC236}">
                <a16:creationId xmlns:a16="http://schemas.microsoft.com/office/drawing/2014/main" id="{3A589E34-0B0F-4AE4-8DA3-CDB23F0BC472}"/>
              </a:ext>
            </a:extLst>
          </p:cNvPr>
          <p:cNvSpPr>
            <a:spLocks noGrp="1"/>
          </p:cNvSpPr>
          <p:nvPr>
            <p:ph idx="1"/>
          </p:nvPr>
        </p:nvSpPr>
        <p:spPr>
          <a:xfrm>
            <a:off x="838200" y="1781020"/>
            <a:ext cx="10515600" cy="4351338"/>
          </a:xfrm>
        </p:spPr>
        <p:txBody>
          <a:bodyPr/>
          <a:lstStyle/>
          <a:p>
            <a:r>
              <a:rPr lang="en-US" dirty="0"/>
              <a:t>Distance from JB7-26S: ~110 ft</a:t>
            </a:r>
          </a:p>
          <a:p>
            <a:r>
              <a:rPr lang="en-US" dirty="0"/>
              <a:t>Distance from JB1-26S: ~202 ft</a:t>
            </a:r>
          </a:p>
          <a:p>
            <a:r>
              <a:rPr lang="en-US" dirty="0"/>
              <a:t>Abandonment Date: 10/29/2019</a:t>
            </a:r>
          </a:p>
          <a:p>
            <a:r>
              <a:rPr lang="en-US" dirty="0"/>
              <a:t>Cement to surface on abandonment with no fallback</a:t>
            </a: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40201562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0000"/>
            <a:lum/>
          </a:blip>
          <a:srcRect/>
          <a:stretch>
            <a:fillRect t="65000" b="-9000"/>
          </a:stretch>
        </a:blipFill>
        <a:effectLst/>
      </p:bgPr>
    </p:bg>
    <p:spTree>
      <p:nvGrpSpPr>
        <p:cNvPr id="1" name="">
          <a:extLst>
            <a:ext uri="{FF2B5EF4-FFF2-40B4-BE49-F238E27FC236}">
              <a16:creationId xmlns:a16="http://schemas.microsoft.com/office/drawing/2014/main" id="{50D50074-5201-10AE-C5BB-2854BE690AF0}"/>
            </a:ext>
          </a:extLst>
        </p:cNvPr>
        <p:cNvGrpSpPr/>
        <p:nvPr/>
      </p:nvGrpSpPr>
      <p:grpSpPr>
        <a:xfrm>
          <a:off x="0" y="0"/>
          <a:ext cx="0" cy="0"/>
          <a:chOff x="0" y="0"/>
          <a:chExt cx="0" cy="0"/>
        </a:xfrm>
      </p:grpSpPr>
      <p:pic>
        <p:nvPicPr>
          <p:cNvPr id="5" name="Content Placeholder 4" descr="A screenshot of a map&#10;&#10;AI-generated content may be incorrect.">
            <a:extLst>
              <a:ext uri="{FF2B5EF4-FFF2-40B4-BE49-F238E27FC236}">
                <a16:creationId xmlns:a16="http://schemas.microsoft.com/office/drawing/2014/main" id="{F5B00335-2D8E-396D-F293-3DEA97566969}"/>
              </a:ext>
            </a:extLst>
          </p:cNvPr>
          <p:cNvPicPr>
            <a:picLocks noGrp="1" noChangeAspect="1"/>
          </p:cNvPicPr>
          <p:nvPr>
            <p:ph idx="1"/>
          </p:nvPr>
        </p:nvPicPr>
        <p:blipFill>
          <a:blip r:embed="rId3"/>
          <a:stretch>
            <a:fillRect/>
          </a:stretch>
        </p:blipFill>
        <p:spPr>
          <a:xfrm>
            <a:off x="2287859" y="749080"/>
            <a:ext cx="7616283" cy="5359841"/>
          </a:xfrm>
          <a:ln>
            <a:solidFill>
              <a:schemeClr val="tx1"/>
            </a:solidFill>
          </a:ln>
        </p:spPr>
      </p:pic>
      <p:sp>
        <p:nvSpPr>
          <p:cNvPr id="6" name="5-Point Star 5">
            <a:extLst>
              <a:ext uri="{FF2B5EF4-FFF2-40B4-BE49-F238E27FC236}">
                <a16:creationId xmlns:a16="http://schemas.microsoft.com/office/drawing/2014/main" id="{7EBA8CEC-C138-01B4-FC0B-3E178DF443CF}"/>
              </a:ext>
            </a:extLst>
          </p:cNvPr>
          <p:cNvSpPr/>
          <p:nvPr/>
        </p:nvSpPr>
        <p:spPr>
          <a:xfrm>
            <a:off x="6334975" y="2141705"/>
            <a:ext cx="367990" cy="334536"/>
          </a:xfrm>
          <a:prstGeom prst="star5">
            <a:avLst/>
          </a:prstGeom>
          <a:ln w="28575"/>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9F02ACF-94C0-161F-88AE-236185FF24A0}"/>
              </a:ext>
            </a:extLst>
          </p:cNvPr>
          <p:cNvSpPr txBox="1"/>
          <p:nvPr/>
        </p:nvSpPr>
        <p:spPr>
          <a:xfrm>
            <a:off x="6518970" y="2476241"/>
            <a:ext cx="1598899" cy="369332"/>
          </a:xfrm>
          <a:prstGeom prst="rect">
            <a:avLst/>
          </a:prstGeom>
          <a:noFill/>
        </p:spPr>
        <p:txBody>
          <a:bodyPr wrap="none" rtlCol="0">
            <a:spAutoFit/>
          </a:bodyPr>
          <a:lstStyle/>
          <a:p>
            <a:r>
              <a:rPr lang="en-US" dirty="0">
                <a:solidFill>
                  <a:srgbClr val="002060"/>
                </a:solidFill>
              </a:rPr>
              <a:t>5712-26S_ST1</a:t>
            </a:r>
          </a:p>
        </p:txBody>
      </p:sp>
    </p:spTree>
    <p:extLst>
      <p:ext uri="{BB962C8B-B14F-4D97-AF65-F5344CB8AC3E}">
        <p14:creationId xmlns:p14="http://schemas.microsoft.com/office/powerpoint/2010/main" val="21067443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40000"/>
            <a:lum/>
          </a:blip>
          <a:srcRect/>
          <a:stretch>
            <a:fillRect t="65000" b="-9000"/>
          </a:stretch>
        </a:blipFill>
        <a:effectLst/>
      </p:bgPr>
    </p:bg>
    <p:spTree>
      <p:nvGrpSpPr>
        <p:cNvPr id="1" name="">
          <a:extLst>
            <a:ext uri="{FF2B5EF4-FFF2-40B4-BE49-F238E27FC236}">
              <a16:creationId xmlns:a16="http://schemas.microsoft.com/office/drawing/2014/main" id="{EB6EDB16-617C-4E26-F17C-1C25ACCB2A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0031C9-DE85-0122-0FF9-B8EE66DB708B}"/>
              </a:ext>
            </a:extLst>
          </p:cNvPr>
          <p:cNvSpPr>
            <a:spLocks noGrp="1"/>
          </p:cNvSpPr>
          <p:nvPr>
            <p:ph type="title"/>
          </p:nvPr>
        </p:nvSpPr>
        <p:spPr>
          <a:xfrm>
            <a:off x="838200" y="243693"/>
            <a:ext cx="10515600" cy="1325563"/>
          </a:xfrm>
        </p:spPr>
        <p:txBody>
          <a:bodyPr/>
          <a:lstStyle/>
          <a:p>
            <a:r>
              <a:rPr lang="en-US" dirty="0">
                <a:solidFill>
                  <a:srgbClr val="C00000"/>
                </a:solidFill>
              </a:rPr>
              <a:t>5712-26S_ST1 (0402979733)</a:t>
            </a:r>
          </a:p>
        </p:txBody>
      </p:sp>
      <p:sp>
        <p:nvSpPr>
          <p:cNvPr id="3" name="Content Placeholder 2">
            <a:extLst>
              <a:ext uri="{FF2B5EF4-FFF2-40B4-BE49-F238E27FC236}">
                <a16:creationId xmlns:a16="http://schemas.microsoft.com/office/drawing/2014/main" id="{D9592607-B081-BA1A-0473-571068F46A6F}"/>
              </a:ext>
            </a:extLst>
          </p:cNvPr>
          <p:cNvSpPr>
            <a:spLocks noGrp="1"/>
          </p:cNvSpPr>
          <p:nvPr>
            <p:ph idx="1"/>
          </p:nvPr>
        </p:nvSpPr>
        <p:spPr>
          <a:xfrm>
            <a:off x="838200" y="1781020"/>
            <a:ext cx="10515600" cy="4351338"/>
          </a:xfrm>
        </p:spPr>
        <p:txBody>
          <a:bodyPr/>
          <a:lstStyle/>
          <a:p>
            <a:r>
              <a:rPr lang="en-US" dirty="0"/>
              <a:t>Drill Date: 5/1/1987</a:t>
            </a:r>
          </a:p>
          <a:p>
            <a:r>
              <a:rPr lang="en-US" dirty="0"/>
              <a:t>Good cement returns to surface</a:t>
            </a:r>
          </a:p>
          <a:p>
            <a:r>
              <a:rPr lang="en-US" dirty="0"/>
              <a:t>Distance from JB7-26S: ~148ft</a:t>
            </a:r>
          </a:p>
          <a:p>
            <a:r>
              <a:rPr lang="en-US" dirty="0"/>
              <a:t>Distance from JB1-26S: ~10 ft</a:t>
            </a:r>
          </a:p>
          <a:p>
            <a:r>
              <a:rPr lang="en-US" dirty="0"/>
              <a:t>Active well</a:t>
            </a:r>
          </a:p>
          <a:p>
            <a:r>
              <a:rPr lang="en-US" dirty="0">
                <a:highlight>
                  <a:srgbClr val="FFFF00"/>
                </a:highlight>
              </a:rPr>
              <a:t>Suspected holes in casing that were never confirmed (6/3/2020)</a:t>
            </a:r>
          </a:p>
          <a:p>
            <a:r>
              <a:rPr lang="en-US" dirty="0"/>
              <a:t>On the “Do Not Steam List” </a:t>
            </a:r>
          </a:p>
          <a:p>
            <a:pPr lvl="1"/>
            <a:r>
              <a:rPr lang="en-US" dirty="0"/>
              <a:t>Last steamed in March 2013</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4027038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0000"/>
            <a:lum/>
          </a:blip>
          <a:srcRect/>
          <a:stretch>
            <a:fillRect t="65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F5514-4782-7235-39ED-AAF93B946FD2}"/>
              </a:ext>
            </a:extLst>
          </p:cNvPr>
          <p:cNvSpPr>
            <a:spLocks noGrp="1"/>
          </p:cNvSpPr>
          <p:nvPr>
            <p:ph type="title"/>
          </p:nvPr>
        </p:nvSpPr>
        <p:spPr/>
        <p:txBody>
          <a:bodyPr/>
          <a:lstStyle/>
          <a:p>
            <a:r>
              <a:rPr lang="en-US" dirty="0">
                <a:solidFill>
                  <a:srgbClr val="C00000"/>
                </a:solidFill>
              </a:rPr>
              <a:t>5712-26S_ST1 (0402979733)</a:t>
            </a:r>
            <a:endParaRPr lang="en-US" dirty="0"/>
          </a:p>
        </p:txBody>
      </p:sp>
      <p:pic>
        <p:nvPicPr>
          <p:cNvPr id="5" name="Content Placeholder 4" descr="A screenshot of a graph&#10;&#10;AI-generated content may be incorrect.">
            <a:extLst>
              <a:ext uri="{FF2B5EF4-FFF2-40B4-BE49-F238E27FC236}">
                <a16:creationId xmlns:a16="http://schemas.microsoft.com/office/drawing/2014/main" id="{28B9996F-5B7A-1E89-F773-C4BFD8A4324B}"/>
              </a:ext>
            </a:extLst>
          </p:cNvPr>
          <p:cNvPicPr>
            <a:picLocks noGrp="1" noChangeAspect="1"/>
          </p:cNvPicPr>
          <p:nvPr>
            <p:ph idx="1"/>
          </p:nvPr>
        </p:nvPicPr>
        <p:blipFill>
          <a:blip r:embed="rId3"/>
          <a:stretch>
            <a:fillRect/>
          </a:stretch>
        </p:blipFill>
        <p:spPr>
          <a:xfrm>
            <a:off x="1440366" y="1610140"/>
            <a:ext cx="9311268" cy="4700543"/>
          </a:xfrm>
        </p:spPr>
      </p:pic>
    </p:spTree>
    <p:extLst>
      <p:ext uri="{BB962C8B-B14F-4D97-AF65-F5344CB8AC3E}">
        <p14:creationId xmlns:p14="http://schemas.microsoft.com/office/powerpoint/2010/main" val="37600581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0000"/>
            <a:lum/>
          </a:blip>
          <a:srcRect/>
          <a:stretch>
            <a:fillRect t="65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C09EA-33B1-AC7B-F03C-BD7766BFDB22}"/>
              </a:ext>
            </a:extLst>
          </p:cNvPr>
          <p:cNvSpPr>
            <a:spLocks noGrp="1"/>
          </p:cNvSpPr>
          <p:nvPr>
            <p:ph type="title"/>
          </p:nvPr>
        </p:nvSpPr>
        <p:spPr>
          <a:xfrm>
            <a:off x="169127" y="0"/>
            <a:ext cx="10515600" cy="1325563"/>
          </a:xfrm>
        </p:spPr>
        <p:txBody>
          <a:bodyPr/>
          <a:lstStyle/>
          <a:p>
            <a:r>
              <a:rPr lang="en-US" dirty="0">
                <a:solidFill>
                  <a:srgbClr val="C00000"/>
                </a:solidFill>
              </a:rPr>
              <a:t>JB1-26S Temperature Surveys</a:t>
            </a:r>
          </a:p>
        </p:txBody>
      </p:sp>
      <p:pic>
        <p:nvPicPr>
          <p:cNvPr id="5" name="Content Placeholder 4" descr="A graph with colored lines&#10;&#10;AI-generated content may be incorrect.">
            <a:extLst>
              <a:ext uri="{FF2B5EF4-FFF2-40B4-BE49-F238E27FC236}">
                <a16:creationId xmlns:a16="http://schemas.microsoft.com/office/drawing/2014/main" id="{F1C5EDA6-EA0E-BE28-F2C0-71773ADB65C2}"/>
              </a:ext>
            </a:extLst>
          </p:cNvPr>
          <p:cNvPicPr>
            <a:picLocks noGrp="1" noChangeAspect="1"/>
          </p:cNvPicPr>
          <p:nvPr>
            <p:ph idx="1"/>
          </p:nvPr>
        </p:nvPicPr>
        <p:blipFill>
          <a:blip r:embed="rId3"/>
          <a:stretch>
            <a:fillRect/>
          </a:stretch>
        </p:blipFill>
        <p:spPr>
          <a:xfrm>
            <a:off x="2890340" y="1061106"/>
            <a:ext cx="5796460" cy="5736703"/>
          </a:xfrm>
        </p:spPr>
      </p:pic>
      <p:grpSp>
        <p:nvGrpSpPr>
          <p:cNvPr id="31" name="Group 30">
            <a:extLst>
              <a:ext uri="{FF2B5EF4-FFF2-40B4-BE49-F238E27FC236}">
                <a16:creationId xmlns:a16="http://schemas.microsoft.com/office/drawing/2014/main" id="{0A73E1E2-08F7-55C5-AC80-F47BF62FE14E}"/>
              </a:ext>
            </a:extLst>
          </p:cNvPr>
          <p:cNvGrpSpPr/>
          <p:nvPr/>
        </p:nvGrpSpPr>
        <p:grpSpPr>
          <a:xfrm>
            <a:off x="334537" y="1325563"/>
            <a:ext cx="1694985" cy="3068017"/>
            <a:chOff x="334537" y="1325563"/>
            <a:chExt cx="1694985" cy="3068017"/>
          </a:xfrm>
        </p:grpSpPr>
        <p:grpSp>
          <p:nvGrpSpPr>
            <p:cNvPr id="29" name="Group 28">
              <a:extLst>
                <a:ext uri="{FF2B5EF4-FFF2-40B4-BE49-F238E27FC236}">
                  <a16:creationId xmlns:a16="http://schemas.microsoft.com/office/drawing/2014/main" id="{9ABFF942-8D33-B220-3696-51100ED6A0F8}"/>
                </a:ext>
              </a:extLst>
            </p:cNvPr>
            <p:cNvGrpSpPr/>
            <p:nvPr/>
          </p:nvGrpSpPr>
          <p:grpSpPr>
            <a:xfrm>
              <a:off x="531897" y="1571651"/>
              <a:ext cx="1367253" cy="2674701"/>
              <a:chOff x="531897" y="1571651"/>
              <a:chExt cx="1367253" cy="2674701"/>
            </a:xfrm>
          </p:grpSpPr>
          <p:pic>
            <p:nvPicPr>
              <p:cNvPr id="9" name="Picture 8">
                <a:extLst>
                  <a:ext uri="{FF2B5EF4-FFF2-40B4-BE49-F238E27FC236}">
                    <a16:creationId xmlns:a16="http://schemas.microsoft.com/office/drawing/2014/main" id="{64B041AF-A68D-84AD-11AA-A9EA50617FAC}"/>
                  </a:ext>
                </a:extLst>
              </p:cNvPr>
              <p:cNvPicPr>
                <a:picLocks noChangeAspect="1"/>
              </p:cNvPicPr>
              <p:nvPr/>
            </p:nvPicPr>
            <p:blipFill>
              <a:blip r:embed="rId4"/>
              <a:stretch>
                <a:fillRect/>
              </a:stretch>
            </p:blipFill>
            <p:spPr>
              <a:xfrm>
                <a:off x="580178" y="1673767"/>
                <a:ext cx="571500" cy="165100"/>
              </a:xfrm>
              <a:prstGeom prst="rect">
                <a:avLst/>
              </a:prstGeom>
            </p:spPr>
          </p:pic>
          <p:sp>
            <p:nvSpPr>
              <p:cNvPr id="10" name="TextBox 9">
                <a:extLst>
                  <a:ext uri="{FF2B5EF4-FFF2-40B4-BE49-F238E27FC236}">
                    <a16:creationId xmlns:a16="http://schemas.microsoft.com/office/drawing/2014/main" id="{87AFC12D-B2B8-3D1C-0C79-7DCE5810A074}"/>
                  </a:ext>
                </a:extLst>
              </p:cNvPr>
              <p:cNvSpPr txBox="1"/>
              <p:nvPr/>
            </p:nvSpPr>
            <p:spPr>
              <a:xfrm>
                <a:off x="1220759" y="1571651"/>
                <a:ext cx="678391" cy="369332"/>
              </a:xfrm>
              <a:prstGeom prst="rect">
                <a:avLst/>
              </a:prstGeom>
              <a:noFill/>
            </p:spPr>
            <p:txBody>
              <a:bodyPr wrap="none" rtlCol="0">
                <a:spAutoFit/>
              </a:bodyPr>
              <a:lstStyle/>
              <a:p>
                <a:r>
                  <a:rPr lang="en-US" dirty="0"/>
                  <a:t>2025</a:t>
                </a:r>
              </a:p>
            </p:txBody>
          </p:sp>
          <p:pic>
            <p:nvPicPr>
              <p:cNvPr id="12" name="Picture 11">
                <a:extLst>
                  <a:ext uri="{FF2B5EF4-FFF2-40B4-BE49-F238E27FC236}">
                    <a16:creationId xmlns:a16="http://schemas.microsoft.com/office/drawing/2014/main" id="{0B7B45CD-9974-9D31-EC72-207BD7FB701A}"/>
                  </a:ext>
                </a:extLst>
              </p:cNvPr>
              <p:cNvPicPr>
                <a:picLocks/>
              </p:cNvPicPr>
              <p:nvPr/>
            </p:nvPicPr>
            <p:blipFill>
              <a:blip r:embed="rId5"/>
              <a:stretch>
                <a:fillRect/>
              </a:stretch>
            </p:blipFill>
            <p:spPr>
              <a:xfrm>
                <a:off x="580179" y="2027547"/>
                <a:ext cx="576072" cy="164592"/>
              </a:xfrm>
              <a:prstGeom prst="rect">
                <a:avLst/>
              </a:prstGeom>
            </p:spPr>
          </p:pic>
          <p:sp>
            <p:nvSpPr>
              <p:cNvPr id="13" name="TextBox 12">
                <a:extLst>
                  <a:ext uri="{FF2B5EF4-FFF2-40B4-BE49-F238E27FC236}">
                    <a16:creationId xmlns:a16="http://schemas.microsoft.com/office/drawing/2014/main" id="{F481D431-687A-4D21-A6DB-1093FC59897D}"/>
                  </a:ext>
                </a:extLst>
              </p:cNvPr>
              <p:cNvSpPr txBox="1"/>
              <p:nvPr/>
            </p:nvSpPr>
            <p:spPr>
              <a:xfrm>
                <a:off x="1179597" y="1940983"/>
                <a:ext cx="678391" cy="369332"/>
              </a:xfrm>
              <a:prstGeom prst="rect">
                <a:avLst/>
              </a:prstGeom>
              <a:noFill/>
            </p:spPr>
            <p:txBody>
              <a:bodyPr wrap="none" rtlCol="0">
                <a:spAutoFit/>
              </a:bodyPr>
              <a:lstStyle/>
              <a:p>
                <a:r>
                  <a:rPr lang="en-US" dirty="0"/>
                  <a:t>2022</a:t>
                </a:r>
              </a:p>
            </p:txBody>
          </p:sp>
          <p:pic>
            <p:nvPicPr>
              <p:cNvPr id="15" name="Picture 14">
                <a:extLst>
                  <a:ext uri="{FF2B5EF4-FFF2-40B4-BE49-F238E27FC236}">
                    <a16:creationId xmlns:a16="http://schemas.microsoft.com/office/drawing/2014/main" id="{723E3D5D-8147-3E81-8B74-9A80F68D8CA3}"/>
                  </a:ext>
                </a:extLst>
              </p:cNvPr>
              <p:cNvPicPr>
                <a:picLocks noChangeAspect="1"/>
              </p:cNvPicPr>
              <p:nvPr/>
            </p:nvPicPr>
            <p:blipFill>
              <a:blip r:embed="rId6"/>
              <a:stretch>
                <a:fillRect/>
              </a:stretch>
            </p:blipFill>
            <p:spPr>
              <a:xfrm>
                <a:off x="531897" y="2432901"/>
                <a:ext cx="647700" cy="215900"/>
              </a:xfrm>
              <a:prstGeom prst="rect">
                <a:avLst/>
              </a:prstGeom>
            </p:spPr>
          </p:pic>
          <p:sp>
            <p:nvSpPr>
              <p:cNvPr id="16" name="TextBox 15">
                <a:extLst>
                  <a:ext uri="{FF2B5EF4-FFF2-40B4-BE49-F238E27FC236}">
                    <a16:creationId xmlns:a16="http://schemas.microsoft.com/office/drawing/2014/main" id="{9FEF67AE-6567-8274-1BF9-3C5D7F412C9C}"/>
                  </a:ext>
                </a:extLst>
              </p:cNvPr>
              <p:cNvSpPr txBox="1"/>
              <p:nvPr/>
            </p:nvSpPr>
            <p:spPr>
              <a:xfrm>
                <a:off x="1219145" y="2392258"/>
                <a:ext cx="678391" cy="369332"/>
              </a:xfrm>
              <a:prstGeom prst="rect">
                <a:avLst/>
              </a:prstGeom>
              <a:noFill/>
            </p:spPr>
            <p:txBody>
              <a:bodyPr wrap="none" rtlCol="0">
                <a:spAutoFit/>
              </a:bodyPr>
              <a:lstStyle/>
              <a:p>
                <a:r>
                  <a:rPr lang="en-US" dirty="0"/>
                  <a:t>2021</a:t>
                </a:r>
              </a:p>
            </p:txBody>
          </p:sp>
          <p:pic>
            <p:nvPicPr>
              <p:cNvPr id="18" name="Picture 17">
                <a:extLst>
                  <a:ext uri="{FF2B5EF4-FFF2-40B4-BE49-F238E27FC236}">
                    <a16:creationId xmlns:a16="http://schemas.microsoft.com/office/drawing/2014/main" id="{0CA196C1-3AA0-B133-5F17-3837F1E3D833}"/>
                  </a:ext>
                </a:extLst>
              </p:cNvPr>
              <p:cNvPicPr>
                <a:picLocks noChangeAspect="1"/>
              </p:cNvPicPr>
              <p:nvPr/>
            </p:nvPicPr>
            <p:blipFill>
              <a:blip r:embed="rId7"/>
              <a:stretch>
                <a:fillRect/>
              </a:stretch>
            </p:blipFill>
            <p:spPr>
              <a:xfrm>
                <a:off x="576347" y="2769446"/>
                <a:ext cx="558800" cy="241300"/>
              </a:xfrm>
              <a:prstGeom prst="rect">
                <a:avLst/>
              </a:prstGeom>
            </p:spPr>
          </p:pic>
          <p:sp>
            <p:nvSpPr>
              <p:cNvPr id="19" name="TextBox 18">
                <a:extLst>
                  <a:ext uri="{FF2B5EF4-FFF2-40B4-BE49-F238E27FC236}">
                    <a16:creationId xmlns:a16="http://schemas.microsoft.com/office/drawing/2014/main" id="{725A796A-FE70-8B49-467F-0B3AAB472332}"/>
                  </a:ext>
                </a:extLst>
              </p:cNvPr>
              <p:cNvSpPr txBox="1"/>
              <p:nvPr/>
            </p:nvSpPr>
            <p:spPr>
              <a:xfrm>
                <a:off x="1219144" y="2786124"/>
                <a:ext cx="678391" cy="369332"/>
              </a:xfrm>
              <a:prstGeom prst="rect">
                <a:avLst/>
              </a:prstGeom>
              <a:noFill/>
            </p:spPr>
            <p:txBody>
              <a:bodyPr wrap="none" rtlCol="0">
                <a:spAutoFit/>
              </a:bodyPr>
              <a:lstStyle/>
              <a:p>
                <a:r>
                  <a:rPr lang="en-US" dirty="0"/>
                  <a:t>2017</a:t>
                </a:r>
              </a:p>
            </p:txBody>
          </p:sp>
          <p:pic>
            <p:nvPicPr>
              <p:cNvPr id="21" name="Picture 20">
                <a:extLst>
                  <a:ext uri="{FF2B5EF4-FFF2-40B4-BE49-F238E27FC236}">
                    <a16:creationId xmlns:a16="http://schemas.microsoft.com/office/drawing/2014/main" id="{F72D2751-1BB4-CB83-262A-8D32A41C00DC}"/>
                  </a:ext>
                </a:extLst>
              </p:cNvPr>
              <p:cNvPicPr>
                <a:picLocks noChangeAspect="1"/>
              </p:cNvPicPr>
              <p:nvPr/>
            </p:nvPicPr>
            <p:blipFill>
              <a:blip r:embed="rId8"/>
              <a:stretch>
                <a:fillRect/>
              </a:stretch>
            </p:blipFill>
            <p:spPr>
              <a:xfrm>
                <a:off x="576347" y="3197877"/>
                <a:ext cx="546100" cy="203200"/>
              </a:xfrm>
              <a:prstGeom prst="rect">
                <a:avLst/>
              </a:prstGeom>
            </p:spPr>
          </p:pic>
          <p:sp>
            <p:nvSpPr>
              <p:cNvPr id="22" name="TextBox 21">
                <a:extLst>
                  <a:ext uri="{FF2B5EF4-FFF2-40B4-BE49-F238E27FC236}">
                    <a16:creationId xmlns:a16="http://schemas.microsoft.com/office/drawing/2014/main" id="{D03B0028-34E1-F475-A9D6-57CE29E045B1}"/>
                  </a:ext>
                </a:extLst>
              </p:cNvPr>
              <p:cNvSpPr txBox="1"/>
              <p:nvPr/>
            </p:nvSpPr>
            <p:spPr>
              <a:xfrm>
                <a:off x="1213660" y="3179651"/>
                <a:ext cx="678391" cy="369332"/>
              </a:xfrm>
              <a:prstGeom prst="rect">
                <a:avLst/>
              </a:prstGeom>
              <a:noFill/>
            </p:spPr>
            <p:txBody>
              <a:bodyPr wrap="none" rtlCol="0">
                <a:spAutoFit/>
              </a:bodyPr>
              <a:lstStyle/>
              <a:p>
                <a:r>
                  <a:rPr lang="en-US" dirty="0"/>
                  <a:t>2012</a:t>
                </a:r>
              </a:p>
            </p:txBody>
          </p:sp>
          <p:pic>
            <p:nvPicPr>
              <p:cNvPr id="24" name="Picture 23">
                <a:extLst>
                  <a:ext uri="{FF2B5EF4-FFF2-40B4-BE49-F238E27FC236}">
                    <a16:creationId xmlns:a16="http://schemas.microsoft.com/office/drawing/2014/main" id="{8267C08B-249B-D0F9-A6BF-3EEF3DA9B2D4}"/>
                  </a:ext>
                </a:extLst>
              </p:cNvPr>
              <p:cNvPicPr>
                <a:picLocks noChangeAspect="1"/>
              </p:cNvPicPr>
              <p:nvPr/>
            </p:nvPicPr>
            <p:blipFill>
              <a:blip r:embed="rId9"/>
              <a:stretch>
                <a:fillRect/>
              </a:stretch>
            </p:blipFill>
            <p:spPr>
              <a:xfrm>
                <a:off x="576347" y="3578339"/>
                <a:ext cx="533400" cy="177800"/>
              </a:xfrm>
              <a:prstGeom prst="rect">
                <a:avLst/>
              </a:prstGeom>
            </p:spPr>
          </p:pic>
          <p:sp>
            <p:nvSpPr>
              <p:cNvPr id="25" name="TextBox 24">
                <a:extLst>
                  <a:ext uri="{FF2B5EF4-FFF2-40B4-BE49-F238E27FC236}">
                    <a16:creationId xmlns:a16="http://schemas.microsoft.com/office/drawing/2014/main" id="{136F06B4-78DD-827D-ECBF-89BF522FF97D}"/>
                  </a:ext>
                </a:extLst>
              </p:cNvPr>
              <p:cNvSpPr txBox="1"/>
              <p:nvPr/>
            </p:nvSpPr>
            <p:spPr>
              <a:xfrm>
                <a:off x="1220759" y="3507908"/>
                <a:ext cx="678391" cy="369332"/>
              </a:xfrm>
              <a:prstGeom prst="rect">
                <a:avLst/>
              </a:prstGeom>
              <a:noFill/>
            </p:spPr>
            <p:txBody>
              <a:bodyPr wrap="none" rtlCol="0">
                <a:spAutoFit/>
              </a:bodyPr>
              <a:lstStyle/>
              <a:p>
                <a:r>
                  <a:rPr lang="en-US" dirty="0"/>
                  <a:t>2007</a:t>
                </a:r>
              </a:p>
            </p:txBody>
          </p:sp>
          <p:pic>
            <p:nvPicPr>
              <p:cNvPr id="27" name="Picture 26">
                <a:extLst>
                  <a:ext uri="{FF2B5EF4-FFF2-40B4-BE49-F238E27FC236}">
                    <a16:creationId xmlns:a16="http://schemas.microsoft.com/office/drawing/2014/main" id="{38FA4270-6A47-2CB6-1885-C5720631704D}"/>
                  </a:ext>
                </a:extLst>
              </p:cNvPr>
              <p:cNvPicPr>
                <a:picLocks noChangeAspect="1"/>
              </p:cNvPicPr>
              <p:nvPr/>
            </p:nvPicPr>
            <p:blipFill>
              <a:blip r:embed="rId10"/>
              <a:stretch>
                <a:fillRect/>
              </a:stretch>
            </p:blipFill>
            <p:spPr>
              <a:xfrm>
                <a:off x="576347" y="3929458"/>
                <a:ext cx="622300" cy="203200"/>
              </a:xfrm>
              <a:prstGeom prst="rect">
                <a:avLst/>
              </a:prstGeom>
            </p:spPr>
          </p:pic>
          <p:sp>
            <p:nvSpPr>
              <p:cNvPr id="28" name="TextBox 27">
                <a:extLst>
                  <a:ext uri="{FF2B5EF4-FFF2-40B4-BE49-F238E27FC236}">
                    <a16:creationId xmlns:a16="http://schemas.microsoft.com/office/drawing/2014/main" id="{04646BFE-C2C9-FB76-03BF-52182710E74B}"/>
                  </a:ext>
                </a:extLst>
              </p:cNvPr>
              <p:cNvSpPr txBox="1"/>
              <p:nvPr/>
            </p:nvSpPr>
            <p:spPr>
              <a:xfrm>
                <a:off x="1220759" y="3877020"/>
                <a:ext cx="678391" cy="369332"/>
              </a:xfrm>
              <a:prstGeom prst="rect">
                <a:avLst/>
              </a:prstGeom>
              <a:noFill/>
            </p:spPr>
            <p:txBody>
              <a:bodyPr wrap="none" rtlCol="0">
                <a:spAutoFit/>
              </a:bodyPr>
              <a:lstStyle/>
              <a:p>
                <a:r>
                  <a:rPr lang="en-US" dirty="0"/>
                  <a:t>2002</a:t>
                </a:r>
              </a:p>
            </p:txBody>
          </p:sp>
        </p:grpSp>
        <p:sp>
          <p:nvSpPr>
            <p:cNvPr id="30" name="Rectangle 29">
              <a:extLst>
                <a:ext uri="{FF2B5EF4-FFF2-40B4-BE49-F238E27FC236}">
                  <a16:creationId xmlns:a16="http://schemas.microsoft.com/office/drawing/2014/main" id="{50FD1556-8C24-51E2-FFED-AD999A4F9992}"/>
                </a:ext>
              </a:extLst>
            </p:cNvPr>
            <p:cNvSpPr/>
            <p:nvPr/>
          </p:nvSpPr>
          <p:spPr>
            <a:xfrm>
              <a:off x="334537" y="1325563"/>
              <a:ext cx="1694985" cy="306801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3" name="Straight Arrow Connector 32">
            <a:extLst>
              <a:ext uri="{FF2B5EF4-FFF2-40B4-BE49-F238E27FC236}">
                <a16:creationId xmlns:a16="http://schemas.microsoft.com/office/drawing/2014/main" id="{9D7D805F-1379-5611-E8AE-7D7EC1E6E7D1}"/>
              </a:ext>
            </a:extLst>
          </p:cNvPr>
          <p:cNvCxnSpPr>
            <a:cxnSpLocks/>
          </p:cNvCxnSpPr>
          <p:nvPr/>
        </p:nvCxnSpPr>
        <p:spPr>
          <a:xfrm flipH="1">
            <a:off x="6523464" y="2540851"/>
            <a:ext cx="2599163" cy="405354"/>
          </a:xfrm>
          <a:prstGeom prst="straightConnector1">
            <a:avLst/>
          </a:prstGeom>
          <a:ln w="5715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DF691C5F-9E02-7CE0-2C5B-308EC44005EC}"/>
              </a:ext>
            </a:extLst>
          </p:cNvPr>
          <p:cNvSpPr txBox="1"/>
          <p:nvPr/>
        </p:nvSpPr>
        <p:spPr>
          <a:xfrm>
            <a:off x="9162175" y="2176337"/>
            <a:ext cx="2527038" cy="646331"/>
          </a:xfrm>
          <a:prstGeom prst="rect">
            <a:avLst/>
          </a:prstGeom>
          <a:noFill/>
        </p:spPr>
        <p:txBody>
          <a:bodyPr wrap="none" rtlCol="0">
            <a:spAutoFit/>
          </a:bodyPr>
          <a:lstStyle/>
          <a:p>
            <a:r>
              <a:rPr lang="en-US" dirty="0"/>
              <a:t>2022 Cyclic event from </a:t>
            </a:r>
            <a:br>
              <a:rPr lang="en-US" dirty="0"/>
            </a:br>
            <a:r>
              <a:rPr lang="en-US" dirty="0"/>
              <a:t>5712-26S_ST1near 215’</a:t>
            </a:r>
          </a:p>
        </p:txBody>
      </p:sp>
      <p:sp>
        <p:nvSpPr>
          <p:cNvPr id="37" name="TextBox 36">
            <a:extLst>
              <a:ext uri="{FF2B5EF4-FFF2-40B4-BE49-F238E27FC236}">
                <a16:creationId xmlns:a16="http://schemas.microsoft.com/office/drawing/2014/main" id="{9526982F-65FF-1CFB-9EAE-EE1777D07E62}"/>
              </a:ext>
            </a:extLst>
          </p:cNvPr>
          <p:cNvSpPr txBox="1"/>
          <p:nvPr/>
        </p:nvSpPr>
        <p:spPr>
          <a:xfrm>
            <a:off x="8686800" y="3379951"/>
            <a:ext cx="3133493" cy="1200329"/>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dirty="0"/>
              <a:t>All other cyclic events are 8 months to a year after all subsequent temperature surveys </a:t>
            </a:r>
          </a:p>
        </p:txBody>
      </p:sp>
      <p:sp>
        <p:nvSpPr>
          <p:cNvPr id="38" name="TextBox 37">
            <a:extLst>
              <a:ext uri="{FF2B5EF4-FFF2-40B4-BE49-F238E27FC236}">
                <a16:creationId xmlns:a16="http://schemas.microsoft.com/office/drawing/2014/main" id="{1B3ABF0B-9CCC-D1C3-AED2-0123299D9C7D}"/>
              </a:ext>
            </a:extLst>
          </p:cNvPr>
          <p:cNvSpPr txBox="1"/>
          <p:nvPr/>
        </p:nvSpPr>
        <p:spPr>
          <a:xfrm>
            <a:off x="8686800" y="5000593"/>
            <a:ext cx="3133493" cy="1200329"/>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dirty="0"/>
              <a:t>Note how cooling has occurred in JB1-26S since 5712-26S_ST1 was placed on the “Do Not Steam List”</a:t>
            </a:r>
          </a:p>
        </p:txBody>
      </p:sp>
    </p:spTree>
    <p:extLst>
      <p:ext uri="{BB962C8B-B14F-4D97-AF65-F5344CB8AC3E}">
        <p14:creationId xmlns:p14="http://schemas.microsoft.com/office/powerpoint/2010/main" val="21062360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40000"/>
            <a:lum/>
          </a:blip>
          <a:srcRect/>
          <a:stretch>
            <a:fillRect t="65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09E03-59A5-8690-8F94-1D45A73F8083}"/>
              </a:ext>
            </a:extLst>
          </p:cNvPr>
          <p:cNvSpPr>
            <a:spLocks noGrp="1"/>
          </p:cNvSpPr>
          <p:nvPr>
            <p:ph type="title"/>
          </p:nvPr>
        </p:nvSpPr>
        <p:spPr>
          <a:xfrm>
            <a:off x="838200" y="2766219"/>
            <a:ext cx="10515600" cy="1325563"/>
          </a:xfrm>
        </p:spPr>
        <p:txBody>
          <a:bodyPr/>
          <a:lstStyle/>
          <a:p>
            <a:pPr algn="ctr"/>
            <a:r>
              <a:rPr lang="en-US" dirty="0">
                <a:solidFill>
                  <a:srgbClr val="C00000"/>
                </a:solidFill>
              </a:rPr>
              <a:t>MS1-26S Assessment</a:t>
            </a:r>
          </a:p>
        </p:txBody>
      </p:sp>
    </p:spTree>
    <p:extLst>
      <p:ext uri="{BB962C8B-B14F-4D97-AF65-F5344CB8AC3E}">
        <p14:creationId xmlns:p14="http://schemas.microsoft.com/office/powerpoint/2010/main" val="2594830023"/>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40000"/>
            <a:lum/>
          </a:blip>
          <a:srcRect/>
          <a:stretch>
            <a:fillRect t="65000" b="-9000"/>
          </a:stretch>
        </a:blipFill>
        <a:effectLst/>
      </p:bgPr>
    </p:bg>
    <p:spTree>
      <p:nvGrpSpPr>
        <p:cNvPr id="1" name="">
          <a:extLst>
            <a:ext uri="{FF2B5EF4-FFF2-40B4-BE49-F238E27FC236}">
              <a16:creationId xmlns:a16="http://schemas.microsoft.com/office/drawing/2014/main" id="{6DB00383-E448-4A3E-9B49-8149F5B9D106}"/>
            </a:ext>
          </a:extLst>
        </p:cNvPr>
        <p:cNvGrpSpPr/>
        <p:nvPr/>
      </p:nvGrpSpPr>
      <p:grpSpPr>
        <a:xfrm>
          <a:off x="0" y="0"/>
          <a:ext cx="0" cy="0"/>
          <a:chOff x="0" y="0"/>
          <a:chExt cx="0" cy="0"/>
        </a:xfrm>
      </p:grpSpPr>
      <p:pic>
        <p:nvPicPr>
          <p:cNvPr id="8" name="Content Placeholder 7" descr="A map of a train&#10;&#10;AI-generated content may be incorrect.">
            <a:extLst>
              <a:ext uri="{FF2B5EF4-FFF2-40B4-BE49-F238E27FC236}">
                <a16:creationId xmlns:a16="http://schemas.microsoft.com/office/drawing/2014/main" id="{A6822069-98C4-0351-0F3E-8E787E459AAE}"/>
              </a:ext>
            </a:extLst>
          </p:cNvPr>
          <p:cNvPicPr>
            <a:picLocks noGrp="1" noChangeAspect="1"/>
          </p:cNvPicPr>
          <p:nvPr>
            <p:ph idx="1"/>
          </p:nvPr>
        </p:nvPicPr>
        <p:blipFill>
          <a:blip r:embed="rId4"/>
          <a:stretch>
            <a:fillRect/>
          </a:stretch>
        </p:blipFill>
        <p:spPr>
          <a:xfrm>
            <a:off x="2259247" y="855469"/>
            <a:ext cx="7087508" cy="5358384"/>
          </a:xfrm>
          <a:ln>
            <a:solidFill>
              <a:schemeClr val="tx1"/>
            </a:solidFill>
          </a:ln>
        </p:spPr>
      </p:pic>
      <p:sp>
        <p:nvSpPr>
          <p:cNvPr id="6" name="5-Point Star 5">
            <a:extLst>
              <a:ext uri="{FF2B5EF4-FFF2-40B4-BE49-F238E27FC236}">
                <a16:creationId xmlns:a16="http://schemas.microsoft.com/office/drawing/2014/main" id="{45513C08-5B5D-15F2-BE99-915335348F00}"/>
              </a:ext>
            </a:extLst>
          </p:cNvPr>
          <p:cNvSpPr/>
          <p:nvPr/>
        </p:nvSpPr>
        <p:spPr>
          <a:xfrm>
            <a:off x="6091507" y="2476241"/>
            <a:ext cx="367990" cy="334536"/>
          </a:xfrm>
          <a:prstGeom prst="star5">
            <a:avLst/>
          </a:prstGeom>
          <a:ln w="28575"/>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BEBFB6E-6661-C67F-A877-9A14FBF1D23D}"/>
              </a:ext>
            </a:extLst>
          </p:cNvPr>
          <p:cNvSpPr txBox="1"/>
          <p:nvPr/>
        </p:nvSpPr>
        <p:spPr>
          <a:xfrm>
            <a:off x="5265033" y="2274177"/>
            <a:ext cx="1075936" cy="369332"/>
          </a:xfrm>
          <a:prstGeom prst="rect">
            <a:avLst/>
          </a:prstGeom>
          <a:noFill/>
        </p:spPr>
        <p:txBody>
          <a:bodyPr wrap="none" rtlCol="0">
            <a:spAutoFit/>
          </a:bodyPr>
          <a:lstStyle/>
          <a:p>
            <a:r>
              <a:rPr lang="en-US" dirty="0">
                <a:solidFill>
                  <a:srgbClr val="002060"/>
                </a:solidFill>
              </a:rPr>
              <a:t>MS1-26S</a:t>
            </a:r>
          </a:p>
        </p:txBody>
      </p:sp>
    </p:spTree>
    <p:extLst>
      <p:ext uri="{BB962C8B-B14F-4D97-AF65-F5344CB8AC3E}">
        <p14:creationId xmlns:p14="http://schemas.microsoft.com/office/powerpoint/2010/main" val="559290661"/>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40000"/>
            <a:lum/>
          </a:blip>
          <a:srcRect/>
          <a:stretch>
            <a:fillRect t="65000" b="-9000"/>
          </a:stretch>
        </a:blipFill>
        <a:effectLst/>
      </p:bgPr>
    </p:bg>
    <p:spTree>
      <p:nvGrpSpPr>
        <p:cNvPr id="1" name="">
          <a:extLst>
            <a:ext uri="{FF2B5EF4-FFF2-40B4-BE49-F238E27FC236}">
              <a16:creationId xmlns:a16="http://schemas.microsoft.com/office/drawing/2014/main" id="{74697803-E560-15B2-2319-EF6648011B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265180-8FDC-E64D-27D2-97BE157F6F5D}"/>
              </a:ext>
            </a:extLst>
          </p:cNvPr>
          <p:cNvSpPr>
            <a:spLocks noGrp="1"/>
          </p:cNvSpPr>
          <p:nvPr>
            <p:ph type="title"/>
          </p:nvPr>
        </p:nvSpPr>
        <p:spPr>
          <a:xfrm>
            <a:off x="838200" y="243693"/>
            <a:ext cx="10515600" cy="1325563"/>
          </a:xfrm>
        </p:spPr>
        <p:txBody>
          <a:bodyPr/>
          <a:lstStyle/>
          <a:p>
            <a:r>
              <a:rPr lang="en-US" dirty="0">
                <a:solidFill>
                  <a:srgbClr val="C00000"/>
                </a:solidFill>
              </a:rPr>
              <a:t>MS1-26S (0402979733)</a:t>
            </a:r>
          </a:p>
        </p:txBody>
      </p:sp>
      <p:sp>
        <p:nvSpPr>
          <p:cNvPr id="3" name="Content Placeholder 2">
            <a:extLst>
              <a:ext uri="{FF2B5EF4-FFF2-40B4-BE49-F238E27FC236}">
                <a16:creationId xmlns:a16="http://schemas.microsoft.com/office/drawing/2014/main" id="{3557F31E-9272-78EC-6FB3-4D90DA102EE2}"/>
              </a:ext>
            </a:extLst>
          </p:cNvPr>
          <p:cNvSpPr>
            <a:spLocks noGrp="1"/>
          </p:cNvSpPr>
          <p:nvPr>
            <p:ph idx="1"/>
          </p:nvPr>
        </p:nvSpPr>
        <p:spPr>
          <a:xfrm>
            <a:off x="838200" y="1569256"/>
            <a:ext cx="10515600" cy="4887300"/>
          </a:xfrm>
        </p:spPr>
        <p:txBody>
          <a:bodyPr>
            <a:normAutofit lnSpcReduction="10000"/>
          </a:bodyPr>
          <a:lstStyle/>
          <a:p>
            <a:r>
              <a:rPr lang="en-US" dirty="0"/>
              <a:t>Drill Date: 3/1/1940</a:t>
            </a:r>
          </a:p>
          <a:p>
            <a:r>
              <a:rPr lang="en-US" dirty="0"/>
              <a:t>Converted from O&amp;G producer to TOW on 3/18/1987</a:t>
            </a:r>
          </a:p>
          <a:p>
            <a:r>
              <a:rPr lang="en-US" dirty="0"/>
              <a:t>Distance to closest continuous injector: ~490 ft | 6512i-26S</a:t>
            </a:r>
          </a:p>
          <a:p>
            <a:r>
              <a:rPr lang="en-US" dirty="0"/>
              <a:t>Well is already flagged internally as a substandard well due to no cement in annulus</a:t>
            </a:r>
          </a:p>
          <a:p>
            <a:r>
              <a:rPr lang="en-US" dirty="0"/>
              <a:t>Abandonment Date: 6/25/2025</a:t>
            </a:r>
          </a:p>
          <a:p>
            <a:r>
              <a:rPr lang="en-US" dirty="0"/>
              <a:t>Shallow heat may have started as early as 2015 (8/24/2015 temp survey)</a:t>
            </a:r>
          </a:p>
          <a:p>
            <a:pPr lvl="1"/>
            <a:r>
              <a:rPr lang="en-US" dirty="0"/>
              <a:t>Only one other temp survey was conducted after that (9/14/2021)</a:t>
            </a:r>
          </a:p>
          <a:p>
            <a:r>
              <a:rPr lang="en-US" dirty="0"/>
              <a:t>CPT in 2020 states “7/24 </a:t>
            </a:r>
            <a:r>
              <a:rPr lang="en-US" dirty="0" err="1"/>
              <a:t>Pengo</a:t>
            </a:r>
            <a:r>
              <a:rPr lang="en-US" dirty="0"/>
              <a:t> performed CPT. On arrival surface pressure was 0 PSI…Test PASSED.”</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426367076"/>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40000"/>
            <a:lum/>
          </a:blip>
          <a:srcRect/>
          <a:stretch>
            <a:fillRect t="65000" b="-9000"/>
          </a:stretch>
        </a:blip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52F1109-E5AC-0840-624D-6A5E02D3CF25}"/>
              </a:ext>
            </a:extLst>
          </p:cNvPr>
          <p:cNvPicPr>
            <a:picLocks noGrp="1" noChangeAspect="1"/>
          </p:cNvPicPr>
          <p:nvPr>
            <p:ph idx="1"/>
          </p:nvPr>
        </p:nvPicPr>
        <p:blipFill>
          <a:blip r:embed="rId4"/>
          <a:stretch>
            <a:fillRect/>
          </a:stretch>
        </p:blipFill>
        <p:spPr>
          <a:xfrm>
            <a:off x="2220558" y="434340"/>
            <a:ext cx="7750884" cy="5989320"/>
          </a:xfrm>
          <a:ln>
            <a:solidFill>
              <a:schemeClr val="tx1"/>
            </a:solidFill>
          </a:ln>
        </p:spPr>
      </p:pic>
    </p:spTree>
    <p:extLst>
      <p:ext uri="{BB962C8B-B14F-4D97-AF65-F5344CB8AC3E}">
        <p14:creationId xmlns:p14="http://schemas.microsoft.com/office/powerpoint/2010/main" val="1027081150"/>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E955D1D-4558-B246-AE36-0C3E8718408B}"/>
              </a:ext>
            </a:extLst>
          </p:cNvPr>
          <p:cNvPicPr>
            <a:picLocks noGrp="1" noChangeAspect="1"/>
          </p:cNvPicPr>
          <p:nvPr>
            <p:ph idx="1"/>
          </p:nvPr>
        </p:nvPicPr>
        <p:blipFill>
          <a:blip r:embed="rId2"/>
          <a:stretch>
            <a:fillRect/>
          </a:stretch>
        </p:blipFill>
        <p:spPr>
          <a:xfrm>
            <a:off x="2220982" y="434668"/>
            <a:ext cx="7750036" cy="5988664"/>
          </a:xfrm>
          <a:ln>
            <a:solidFill>
              <a:schemeClr val="tx1"/>
            </a:solidFill>
          </a:ln>
        </p:spPr>
      </p:pic>
    </p:spTree>
    <p:extLst>
      <p:ext uri="{BB962C8B-B14F-4D97-AF65-F5344CB8AC3E}">
        <p14:creationId xmlns:p14="http://schemas.microsoft.com/office/powerpoint/2010/main" val="6355799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6031E-3C7B-EF73-D604-7BF48373697C}"/>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530F21C-EB2C-8EB7-237E-E4F037A5E79B}"/>
              </a:ext>
            </a:extLst>
          </p:cNvPr>
          <p:cNvPicPr>
            <a:picLocks noGrp="1" noChangeAspect="1"/>
          </p:cNvPicPr>
          <p:nvPr>
            <p:ph idx="1"/>
          </p:nvPr>
        </p:nvPicPr>
        <p:blipFill>
          <a:blip r:embed="rId2"/>
          <a:stretch>
            <a:fillRect/>
          </a:stretch>
        </p:blipFill>
        <p:spPr>
          <a:xfrm>
            <a:off x="2220558" y="434340"/>
            <a:ext cx="7750884" cy="5989320"/>
          </a:xfrm>
          <a:ln>
            <a:solidFill>
              <a:schemeClr val="tx1"/>
            </a:solidFill>
          </a:ln>
        </p:spPr>
      </p:pic>
    </p:spTree>
    <p:extLst>
      <p:ext uri="{BB962C8B-B14F-4D97-AF65-F5344CB8AC3E}">
        <p14:creationId xmlns:p14="http://schemas.microsoft.com/office/powerpoint/2010/main" val="3308512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4AE25-9B54-6051-3D86-C6904A2B69F4}"/>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ED0590C-86BB-DAE8-5D78-149EF7EFAE09}"/>
              </a:ext>
            </a:extLst>
          </p:cNvPr>
          <p:cNvPicPr>
            <a:picLocks noGrp="1" noChangeAspect="1"/>
          </p:cNvPicPr>
          <p:nvPr>
            <p:ph idx="1"/>
          </p:nvPr>
        </p:nvPicPr>
        <p:blipFill>
          <a:blip r:embed="rId2"/>
          <a:stretch>
            <a:fillRect/>
          </a:stretch>
        </p:blipFill>
        <p:spPr>
          <a:xfrm>
            <a:off x="2220558" y="434340"/>
            <a:ext cx="7750884" cy="5989320"/>
          </a:xfrm>
          <a:ln>
            <a:solidFill>
              <a:schemeClr val="tx1"/>
            </a:solidFill>
          </a:ln>
        </p:spPr>
      </p:pic>
    </p:spTree>
    <p:extLst>
      <p:ext uri="{BB962C8B-B14F-4D97-AF65-F5344CB8AC3E}">
        <p14:creationId xmlns:p14="http://schemas.microsoft.com/office/powerpoint/2010/main" val="19629887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53FF6-DE99-76D9-94AE-E5A753F42F3C}"/>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2F5247D-6E25-D4C6-8D7D-F5CAF0292CF5}"/>
              </a:ext>
            </a:extLst>
          </p:cNvPr>
          <p:cNvPicPr>
            <a:picLocks noGrp="1" noChangeAspect="1"/>
          </p:cNvPicPr>
          <p:nvPr>
            <p:ph idx="1"/>
          </p:nvPr>
        </p:nvPicPr>
        <p:blipFill>
          <a:blip r:embed="rId2"/>
          <a:stretch>
            <a:fillRect/>
          </a:stretch>
        </p:blipFill>
        <p:spPr>
          <a:xfrm>
            <a:off x="2220558" y="434340"/>
            <a:ext cx="7750884" cy="5989320"/>
          </a:xfrm>
          <a:ln>
            <a:solidFill>
              <a:schemeClr val="tx1"/>
            </a:solidFill>
          </a:ln>
        </p:spPr>
      </p:pic>
    </p:spTree>
    <p:extLst>
      <p:ext uri="{BB962C8B-B14F-4D97-AF65-F5344CB8AC3E}">
        <p14:creationId xmlns:p14="http://schemas.microsoft.com/office/powerpoint/2010/main" val="1827047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3768E-482C-C583-8CD5-681CD6F15F6C}"/>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62212D9-D43F-6FFE-51FD-B5409B1B13B6}"/>
              </a:ext>
            </a:extLst>
          </p:cNvPr>
          <p:cNvPicPr>
            <a:picLocks noGrp="1" noChangeAspect="1"/>
          </p:cNvPicPr>
          <p:nvPr>
            <p:ph idx="1"/>
          </p:nvPr>
        </p:nvPicPr>
        <p:blipFill>
          <a:blip r:embed="rId2"/>
          <a:stretch>
            <a:fillRect/>
          </a:stretch>
        </p:blipFill>
        <p:spPr>
          <a:xfrm>
            <a:off x="2220558" y="434340"/>
            <a:ext cx="7750884" cy="5989320"/>
          </a:xfrm>
          <a:ln>
            <a:solidFill>
              <a:schemeClr val="tx1"/>
            </a:solidFill>
          </a:ln>
        </p:spPr>
      </p:pic>
    </p:spTree>
    <p:extLst>
      <p:ext uri="{BB962C8B-B14F-4D97-AF65-F5344CB8AC3E}">
        <p14:creationId xmlns:p14="http://schemas.microsoft.com/office/powerpoint/2010/main" val="9500127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B610A-5B19-E700-833A-8E429D5CAB40}"/>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904F898-3071-9BC2-B93C-B84626AE3533}"/>
              </a:ext>
            </a:extLst>
          </p:cNvPr>
          <p:cNvPicPr>
            <a:picLocks noGrp="1" noChangeAspect="1"/>
          </p:cNvPicPr>
          <p:nvPr>
            <p:ph idx="1"/>
          </p:nvPr>
        </p:nvPicPr>
        <p:blipFill>
          <a:blip r:embed="rId2"/>
          <a:stretch>
            <a:fillRect/>
          </a:stretch>
        </p:blipFill>
        <p:spPr>
          <a:xfrm>
            <a:off x="2220558" y="434340"/>
            <a:ext cx="7750884" cy="5989320"/>
          </a:xfrm>
          <a:ln>
            <a:solidFill>
              <a:schemeClr val="tx1"/>
            </a:solidFill>
          </a:ln>
        </p:spPr>
      </p:pic>
    </p:spTree>
    <p:extLst>
      <p:ext uri="{BB962C8B-B14F-4D97-AF65-F5344CB8AC3E}">
        <p14:creationId xmlns:p14="http://schemas.microsoft.com/office/powerpoint/2010/main" val="39587783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FF2D5-885D-36E4-B349-7F0D96BB145F}"/>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D25EEC5-9257-1AFE-85C0-8815109CA751}"/>
              </a:ext>
            </a:extLst>
          </p:cNvPr>
          <p:cNvPicPr>
            <a:picLocks noGrp="1" noChangeAspect="1"/>
          </p:cNvPicPr>
          <p:nvPr>
            <p:ph idx="1"/>
          </p:nvPr>
        </p:nvPicPr>
        <p:blipFill>
          <a:blip r:embed="rId2"/>
          <a:stretch>
            <a:fillRect/>
          </a:stretch>
        </p:blipFill>
        <p:spPr>
          <a:xfrm>
            <a:off x="2220558" y="434340"/>
            <a:ext cx="7750884" cy="5989320"/>
          </a:xfrm>
          <a:ln>
            <a:solidFill>
              <a:schemeClr val="tx1"/>
            </a:solidFill>
          </a:ln>
        </p:spPr>
      </p:pic>
    </p:spTree>
    <p:extLst>
      <p:ext uri="{BB962C8B-B14F-4D97-AF65-F5344CB8AC3E}">
        <p14:creationId xmlns:p14="http://schemas.microsoft.com/office/powerpoint/2010/main" val="42844094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6475A36-FBD1-005F-7DC8-944C24501D5D}"/>
              </a:ext>
            </a:extLst>
          </p:cNvPr>
          <p:cNvPicPr>
            <a:picLocks noGrp="1" noChangeAspect="1"/>
          </p:cNvPicPr>
          <p:nvPr>
            <p:ph idx="1"/>
          </p:nvPr>
        </p:nvPicPr>
        <p:blipFill>
          <a:blip r:embed="rId2"/>
          <a:stretch>
            <a:fillRect/>
          </a:stretch>
        </p:blipFill>
        <p:spPr>
          <a:xfrm>
            <a:off x="2220558" y="434340"/>
            <a:ext cx="7750884" cy="5989320"/>
          </a:xfrm>
          <a:ln>
            <a:solidFill>
              <a:schemeClr val="tx1"/>
            </a:solidFill>
          </a:ln>
        </p:spPr>
      </p:pic>
    </p:spTree>
    <p:extLst>
      <p:ext uri="{BB962C8B-B14F-4D97-AF65-F5344CB8AC3E}">
        <p14:creationId xmlns:p14="http://schemas.microsoft.com/office/powerpoint/2010/main" val="23907487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15B73-6110-FC3D-B9D8-863FFD6AAF85}"/>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3EEE885-A3A7-322C-B9EA-EFC4270D9DDE}"/>
              </a:ext>
            </a:extLst>
          </p:cNvPr>
          <p:cNvPicPr>
            <a:picLocks noGrp="1" noChangeAspect="1"/>
          </p:cNvPicPr>
          <p:nvPr>
            <p:ph idx="1"/>
          </p:nvPr>
        </p:nvPicPr>
        <p:blipFill>
          <a:blip r:embed="rId2"/>
          <a:stretch>
            <a:fillRect/>
          </a:stretch>
        </p:blipFill>
        <p:spPr>
          <a:xfrm>
            <a:off x="2220558" y="434340"/>
            <a:ext cx="7750884" cy="5989320"/>
          </a:xfrm>
          <a:ln>
            <a:solidFill>
              <a:schemeClr val="tx1"/>
            </a:solidFill>
          </a:ln>
        </p:spPr>
      </p:pic>
    </p:spTree>
    <p:extLst>
      <p:ext uri="{BB962C8B-B14F-4D97-AF65-F5344CB8AC3E}">
        <p14:creationId xmlns:p14="http://schemas.microsoft.com/office/powerpoint/2010/main" val="12630976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FFC1B-F7C9-D47A-626C-6994C35328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B00F28-C77B-2D4F-E10E-8700ECBDC1B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B095002-A83D-D87A-4E0A-437C4475E11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5222122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E0697-A8C2-8859-24A0-46FEAE4476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ED2BC2-786A-A18A-D356-1E917FF5FE3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6B55459-CD4C-3196-9640-5A608DA6A0E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735518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
  <TotalTime>1597</TotalTime>
  <Words>794</Words>
  <Application>Microsoft Macintosh PowerPoint</Application>
  <PresentationFormat>Widescreen</PresentationFormat>
  <Paragraphs>86</Paragraphs>
  <Slides>32</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Aptos</vt:lpstr>
      <vt:lpstr>Aptos Display</vt:lpstr>
      <vt:lpstr>Arial</vt:lpstr>
      <vt:lpstr>Office Theme</vt:lpstr>
      <vt:lpstr>T23-SP-A</vt:lpstr>
      <vt:lpstr>From CalGEM</vt:lpstr>
      <vt:lpstr>Area of Interest</vt:lpstr>
      <vt:lpstr>PowerPoint Presentation</vt:lpstr>
      <vt:lpstr>JB7-26S (0402949610)</vt:lpstr>
      <vt:lpstr>PowerPoint Presentation</vt:lpstr>
      <vt:lpstr>PowerPoint Presentation</vt:lpstr>
      <vt:lpstr>JB1-26S (0402948872)</vt:lpstr>
      <vt:lpstr>PowerPoint Presentation</vt:lpstr>
      <vt:lpstr>PowerPoint Presentation</vt:lpstr>
      <vt:lpstr>5712U-26S (0403032786)</vt:lpstr>
      <vt:lpstr>PowerPoint Presentation</vt:lpstr>
      <vt:lpstr>5713-26S_ST1 (0402979560)</vt:lpstr>
      <vt:lpstr>PowerPoint Presentation</vt:lpstr>
      <vt:lpstr>5712-26S_ST1 (0402979733)</vt:lpstr>
      <vt:lpstr>5712-26S_ST1 (0402979733)</vt:lpstr>
      <vt:lpstr>JB1-26S Temperature Surveys</vt:lpstr>
      <vt:lpstr>MS1-26S Assessment</vt:lpstr>
      <vt:lpstr>PowerPoint Presentation</vt:lpstr>
      <vt:lpstr>MS1-26S (0402979733)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Heap, Cole</dc:creator>
  <cp:lastModifiedBy>Heap, Cole</cp:lastModifiedBy>
  <cp:revision>1</cp:revision>
  <dcterms:created xsi:type="dcterms:W3CDTF">2026-01-26T16:13:12Z</dcterms:created>
  <dcterms:modified xsi:type="dcterms:W3CDTF">2026-01-27T18:50:51Z</dcterms:modified>
</cp:coreProperties>
</file>